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7539"/>
    <a:srgbClr val="008A19"/>
    <a:srgbClr val="00AD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016065-57BC-4930-B769-07C7AF096535}" v="3" dt="2022-07-28T08:52:33.119"/>
    <p1510:client id="{EEA14F1D-51F9-473D-BAC4-0365145DD770}" v="6" dt="2022-07-28T08:44:55.0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0F920C-35A7-4171-81C0-35608ED40F37}" type="datetimeFigureOut">
              <a:rPr kumimoji="1" lang="ja-JP" altLang="en-US" smtClean="0"/>
              <a:t>2022/7/28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35CB5-564F-4F92-B165-9AAF5A8BF4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6703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35CB5-564F-4F92-B165-9AAF5A8BF43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5891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35CB5-564F-4F92-B165-9AAF5A8BF43C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5952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35CB5-564F-4F92-B165-9AAF5A8BF43C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7154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35CB5-564F-4F92-B165-9AAF5A8BF43C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987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35CB5-564F-4F92-B165-9AAF5A8BF43C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2045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35CB5-564F-4F92-B165-9AAF5A8BF43C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097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35CB5-564F-4F92-B165-9AAF5A8BF43C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2633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35CB5-564F-4F92-B165-9AAF5A8BF43C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9972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AA51-B00A-4E96-8541-9EC9714AAAFB}" type="datetimeFigureOut">
              <a:rPr kumimoji="1" lang="ja-JP" altLang="en-US" smtClean="0"/>
              <a:t>2022/7/28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C793-9053-4BD7-B575-0EF51CF929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8961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5101"/>
            <a:ext cx="7886700" cy="1044573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52600"/>
            <a:ext cx="7886700" cy="4424363"/>
          </a:xfrm>
        </p:spPr>
        <p:txBody>
          <a:bodyPr/>
          <a:lstStyle>
            <a:lvl1pPr>
              <a:defRPr b="1">
                <a:latin typeface="+mn-ea"/>
                <a:ea typeface="+mn-ea"/>
              </a:defRPr>
            </a:lvl1pPr>
            <a:lvl2pPr>
              <a:defRPr b="1">
                <a:latin typeface="+mn-ea"/>
                <a:ea typeface="+mn-ea"/>
              </a:defRPr>
            </a:lvl2pPr>
            <a:lvl3pPr>
              <a:defRPr b="1">
                <a:latin typeface="+mn-ea"/>
                <a:ea typeface="+mn-ea"/>
              </a:defRPr>
            </a:lvl3pPr>
            <a:lvl4pPr>
              <a:defRPr b="1">
                <a:latin typeface="+mn-ea"/>
                <a:ea typeface="+mn-ea"/>
              </a:defRPr>
            </a:lvl4pPr>
            <a:lvl5pPr>
              <a:defRPr b="1">
                <a:latin typeface="+mn-ea"/>
                <a:ea typeface="+mn-ea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AA51-B00A-4E96-8541-9EC9714AAAFB}" type="datetimeFigureOut">
              <a:rPr kumimoji="1" lang="ja-JP" altLang="en-US" smtClean="0"/>
              <a:t>2022/7/28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C793-9053-4BD7-B575-0EF51CF929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7702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AA51-B00A-4E96-8541-9EC9714AAAFB}" type="datetimeFigureOut">
              <a:rPr kumimoji="1" lang="ja-JP" altLang="en-US" smtClean="0"/>
              <a:t>2022/7/28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C793-9053-4BD7-B575-0EF51CF929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3369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AA51-B00A-4E96-8541-9EC9714AAAFB}" type="datetimeFigureOut">
              <a:rPr kumimoji="1" lang="ja-JP" altLang="en-US" smtClean="0"/>
              <a:t>2022/7/28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C793-9053-4BD7-B575-0EF51CF929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6284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AA51-B00A-4E96-8541-9EC9714AAAFB}" type="datetimeFigureOut">
              <a:rPr kumimoji="1" lang="ja-JP" altLang="en-US" smtClean="0"/>
              <a:t>2022/7/28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C793-9053-4BD7-B575-0EF51CF929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261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AA51-B00A-4E96-8541-9EC9714AAAFB}" type="datetimeFigureOut">
              <a:rPr kumimoji="1" lang="ja-JP" altLang="en-US" smtClean="0"/>
              <a:t>2022/7/28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C793-9053-4BD7-B575-0EF51CF929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015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AA51-B00A-4E96-8541-9EC9714AAAFB}" type="datetimeFigureOut">
              <a:rPr kumimoji="1" lang="ja-JP" altLang="en-US" smtClean="0"/>
              <a:t>2022/7/28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C793-9053-4BD7-B575-0EF51CF929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4747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AA51-B00A-4E96-8541-9EC9714AAAFB}" type="datetimeFigureOut">
              <a:rPr kumimoji="1" lang="ja-JP" altLang="en-US" smtClean="0"/>
              <a:t>2022/7/28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C793-9053-4BD7-B575-0EF51CF929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309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AA51-B00A-4E96-8541-9EC9714AAAFB}" type="datetimeFigureOut">
              <a:rPr kumimoji="1" lang="ja-JP" altLang="en-US" smtClean="0"/>
              <a:t>2022/7/28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C793-9053-4BD7-B575-0EF51CF929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551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AA51-B00A-4E96-8541-9EC9714AAAFB}" type="datetimeFigureOut">
              <a:rPr kumimoji="1" lang="ja-JP" altLang="en-US" smtClean="0"/>
              <a:t>2022/7/28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C793-9053-4BD7-B575-0EF51CF929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642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AA51-B00A-4E96-8541-9EC9714AAAFB}" type="datetimeFigureOut">
              <a:rPr kumimoji="1" lang="ja-JP" altLang="en-US" smtClean="0"/>
              <a:t>2022/7/28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C793-9053-4BD7-B575-0EF51CF929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057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DAA51-B00A-4E96-8541-9EC9714AAAFB}" type="datetimeFigureOut">
              <a:rPr kumimoji="1" lang="ja-JP" altLang="en-US" smtClean="0"/>
              <a:t>2022/7/28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1C793-9053-4BD7-B575-0EF51CF929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4729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ny-startup-acceleration-program.com/startdash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ony-startup-acceleration-program.com/member_terms_and_conditions" TargetMode="External"/><Relationship Id="rId4" Type="http://schemas.openxmlformats.org/officeDocument/2006/relationships/hyperlink" Target="https://sony-startup-acceleration-program.com/terms_and_condition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1ABEA6-D62E-43A9-AC67-23627903B0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2999" y="2407255"/>
            <a:ext cx="6858000" cy="212568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br>
              <a:rPr kumimoji="1" lang="en-US" altLang="ja-JP" sz="5400" b="1" dirty="0">
                <a:solidFill>
                  <a:srgbClr val="00AD19"/>
                </a:solidFill>
              </a:rPr>
            </a:br>
            <a:r>
              <a:rPr kumimoji="1" lang="ja-JP" altLang="en-US" sz="5400" b="1" dirty="0">
                <a:solidFill>
                  <a:srgbClr val="247539"/>
                </a:solidFill>
              </a:rPr>
              <a:t>ビジネスモデル図</a:t>
            </a:r>
            <a:br>
              <a:rPr kumimoji="1" lang="en-US" altLang="ja-JP" sz="5400" b="1" dirty="0">
                <a:solidFill>
                  <a:srgbClr val="247539"/>
                </a:solidFill>
              </a:rPr>
            </a:br>
            <a:r>
              <a:rPr kumimoji="1" lang="ja-JP" altLang="en-US" sz="5400" b="1" dirty="0">
                <a:solidFill>
                  <a:srgbClr val="247539"/>
                </a:solidFill>
              </a:rPr>
              <a:t>テンプレート</a:t>
            </a:r>
          </a:p>
        </p:txBody>
      </p:sp>
      <p:pic>
        <p:nvPicPr>
          <p:cNvPr id="5" name="図 4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B37F77FA-BB42-4C9E-947E-31E92392A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295" y="1853596"/>
            <a:ext cx="3525408" cy="674583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26AF34E-7385-4FAF-B464-1A4939D2855F}"/>
              </a:ext>
            </a:extLst>
          </p:cNvPr>
          <p:cNvSpPr/>
          <p:nvPr/>
        </p:nvSpPr>
        <p:spPr>
          <a:xfrm>
            <a:off x="41096" y="6449871"/>
            <a:ext cx="90515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solidFill>
                  <a:srgbClr val="333333"/>
                </a:solidFill>
                <a:latin typeface="+mn-ea"/>
              </a:rPr>
              <a:t> ©2022 Sony Group Corporation</a:t>
            </a:r>
            <a:endParaRPr lang="ja-JP" alt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07328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276C68-214D-4604-8E8B-D21E34085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このテンプレートについて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84C5F835-641D-4315-AA73-D1EF23C5C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01230"/>
            <a:ext cx="7886700" cy="4424363"/>
          </a:xfrm>
          <a:ln>
            <a:solidFill>
              <a:schemeClr val="bg1">
                <a:lumMod val="65000"/>
              </a:schemeClr>
            </a:solidFill>
          </a:ln>
        </p:spPr>
        <p:txBody>
          <a:bodyPr tIns="144000">
            <a:noAutofit/>
          </a:bodyPr>
          <a:lstStyle/>
          <a:p>
            <a:pPr marL="0" lvl="0" indent="0" algn="ctr">
              <a:lnSpc>
                <a:spcPct val="150000"/>
              </a:lnSpc>
              <a:spcBef>
                <a:spcPts val="200"/>
              </a:spcBef>
              <a:buNone/>
            </a:pPr>
            <a:r>
              <a:rPr lang="ja-JP" altLang="en-US" sz="1800" dirty="0">
                <a:solidFill>
                  <a:srgbClr val="247539"/>
                </a:solidFill>
              </a:rPr>
              <a:t>事業化支援</a:t>
            </a:r>
            <a:r>
              <a:rPr lang="en-US" altLang="ja-JP" sz="1800" dirty="0">
                <a:solidFill>
                  <a:srgbClr val="247539"/>
                </a:solidFill>
              </a:rPr>
              <a:t>Web</a:t>
            </a:r>
            <a:r>
              <a:rPr lang="ja-JP" altLang="en-US" sz="1800" dirty="0">
                <a:solidFill>
                  <a:srgbClr val="247539"/>
                </a:solidFill>
              </a:rPr>
              <a:t>アプリ「</a:t>
            </a:r>
            <a:r>
              <a:rPr lang="en-US" altLang="ja-JP" sz="1800" dirty="0">
                <a:solidFill>
                  <a:srgbClr val="247539"/>
                </a:solidFill>
              </a:rPr>
              <a:t>StartDash</a:t>
            </a:r>
            <a:r>
              <a:rPr lang="ja-JP" altLang="en-US" sz="1800" dirty="0">
                <a:solidFill>
                  <a:srgbClr val="247539"/>
                </a:solidFill>
              </a:rPr>
              <a:t>」で</a:t>
            </a:r>
            <a:endParaRPr lang="en-US" altLang="ja-JP" sz="1800" dirty="0">
              <a:solidFill>
                <a:srgbClr val="247539"/>
              </a:solidFill>
            </a:endParaRPr>
          </a:p>
          <a:p>
            <a:pPr marL="0" lvl="0" indent="0" algn="ctr">
              <a:lnSpc>
                <a:spcPct val="150000"/>
              </a:lnSpc>
              <a:spcBef>
                <a:spcPts val="200"/>
              </a:spcBef>
              <a:buNone/>
            </a:pPr>
            <a:r>
              <a:rPr lang="ja-JP" altLang="en-US" sz="1800" dirty="0">
                <a:solidFill>
                  <a:srgbClr val="247539"/>
                </a:solidFill>
              </a:rPr>
              <a:t>「ビジネスモデル図」を作成する際にご利用ください。</a:t>
            </a:r>
            <a:endParaRPr lang="en-US" altLang="ja-JP" sz="1800" dirty="0">
              <a:solidFill>
                <a:srgbClr val="247539"/>
              </a:solidFill>
            </a:endParaRPr>
          </a:p>
          <a:p>
            <a:pPr marL="0" lvl="0" indent="0" algn="ctr">
              <a:lnSpc>
                <a:spcPct val="150000"/>
              </a:lnSpc>
              <a:spcBef>
                <a:spcPts val="200"/>
              </a:spcBef>
              <a:buNone/>
            </a:pPr>
            <a:r>
              <a:rPr lang="ja-JP" altLang="en-US" sz="1800" dirty="0">
                <a:solidFill>
                  <a:srgbClr val="247539"/>
                </a:solidFill>
              </a:rPr>
              <a:t>作成した図を「</a:t>
            </a:r>
            <a:r>
              <a:rPr lang="en-US" altLang="ja-JP" sz="1800" dirty="0">
                <a:solidFill>
                  <a:srgbClr val="247539"/>
                </a:solidFill>
              </a:rPr>
              <a:t>StartDash</a:t>
            </a:r>
            <a:r>
              <a:rPr lang="ja-JP" altLang="en-US" sz="1800" dirty="0">
                <a:solidFill>
                  <a:srgbClr val="247539"/>
                </a:solidFill>
              </a:rPr>
              <a:t>」にアップロードする手順も紹介しています。</a:t>
            </a:r>
            <a:endParaRPr lang="en-US" altLang="ja-JP" sz="1800" dirty="0">
              <a:solidFill>
                <a:srgbClr val="247539"/>
              </a:solidFill>
            </a:endParaRPr>
          </a:p>
          <a:p>
            <a:pPr marL="0" lvl="0" indent="0" algn="ctr">
              <a:lnSpc>
                <a:spcPct val="150000"/>
              </a:lnSpc>
              <a:spcBef>
                <a:spcPts val="200"/>
              </a:spcBef>
              <a:buNone/>
            </a:pPr>
            <a:endParaRPr lang="en-US" altLang="ja-JP" sz="1800" b="1" dirty="0">
              <a:solidFill>
                <a:srgbClr val="00AD19"/>
              </a:solidFill>
              <a:latin typeface="游ゴシック"/>
            </a:endParaRPr>
          </a:p>
          <a:p>
            <a:pPr marL="0" lvl="0" indent="0" algn="ctr">
              <a:lnSpc>
                <a:spcPct val="150000"/>
              </a:lnSpc>
              <a:spcBef>
                <a:spcPts val="200"/>
              </a:spcBef>
              <a:buNone/>
            </a:pPr>
            <a:r>
              <a:rPr lang="ja-JP" altLang="en-US" sz="1400" b="1" dirty="0">
                <a:solidFill>
                  <a:prstClr val="black"/>
                </a:solidFill>
                <a:latin typeface="游ゴシック"/>
              </a:rPr>
              <a:t>このテンプレートは、</a:t>
            </a:r>
            <a:r>
              <a:rPr lang="en-US" altLang="ja-JP" sz="1400" b="1" dirty="0">
                <a:solidFill>
                  <a:prstClr val="black"/>
                </a:solidFill>
                <a:latin typeface="游ゴシック"/>
              </a:rPr>
              <a:t>Sony Startup Acceleration Program</a:t>
            </a:r>
            <a:r>
              <a:rPr lang="ja-JP" altLang="en-US" sz="1400" b="1" dirty="0">
                <a:solidFill>
                  <a:prstClr val="black"/>
                </a:solidFill>
                <a:latin typeface="游ゴシック"/>
              </a:rPr>
              <a:t>が運営する</a:t>
            </a:r>
            <a:endParaRPr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marL="0" lvl="0" indent="0" algn="ctr">
              <a:lnSpc>
                <a:spcPct val="150000"/>
              </a:lnSpc>
              <a:spcBef>
                <a:spcPts val="200"/>
              </a:spcBef>
              <a:buNone/>
            </a:pPr>
            <a:r>
              <a:rPr lang="ja-JP" altLang="en-US" sz="1400" b="1" dirty="0">
                <a:solidFill>
                  <a:prstClr val="black"/>
                </a:solidFill>
                <a:latin typeface="游ゴシック"/>
              </a:rPr>
              <a:t>事業化支援</a:t>
            </a:r>
            <a:r>
              <a:rPr lang="en-US" altLang="ja-JP" sz="1400" b="1" dirty="0">
                <a:solidFill>
                  <a:prstClr val="black"/>
                </a:solidFill>
                <a:latin typeface="游ゴシック"/>
              </a:rPr>
              <a:t>Web</a:t>
            </a:r>
            <a:r>
              <a:rPr lang="ja-JP" altLang="en-US" sz="1400" b="1" dirty="0">
                <a:solidFill>
                  <a:prstClr val="black"/>
                </a:solidFill>
                <a:latin typeface="游ゴシック"/>
              </a:rPr>
              <a:t>アプリ「</a:t>
            </a:r>
            <a:r>
              <a:rPr lang="en-US" altLang="ja-JP" sz="1400" b="1" dirty="0">
                <a:solidFill>
                  <a:prstClr val="black"/>
                </a:solidFill>
                <a:latin typeface="游ゴシック"/>
              </a:rPr>
              <a:t>StartDash</a:t>
            </a:r>
            <a:r>
              <a:rPr lang="ja-JP" altLang="en-US" sz="1400" b="1" dirty="0">
                <a:solidFill>
                  <a:prstClr val="black"/>
                </a:solidFill>
                <a:latin typeface="游ゴシック"/>
              </a:rPr>
              <a:t>」にて提供しています。</a:t>
            </a:r>
            <a:endParaRPr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marL="0" lvl="0" indent="0" algn="ctr">
              <a:lnSpc>
                <a:spcPct val="150000"/>
              </a:lnSpc>
              <a:spcBef>
                <a:spcPts val="200"/>
              </a:spcBef>
              <a:buNone/>
            </a:pPr>
            <a:r>
              <a:rPr lang="en-US" altLang="ja-JP" sz="1400" b="1" dirty="0">
                <a:solidFill>
                  <a:prstClr val="black"/>
                </a:solidFill>
                <a:latin typeface="游ゴシック"/>
                <a:hlinkClick r:id="rId3"/>
              </a:rPr>
              <a:t>https://sony-startup-acceleration-program.com/startdash</a:t>
            </a:r>
            <a:endParaRPr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marL="0" indent="0" algn="ctr">
              <a:lnSpc>
                <a:spcPct val="150000"/>
              </a:lnSpc>
              <a:spcBef>
                <a:spcPts val="200"/>
              </a:spcBef>
              <a:buNone/>
            </a:pPr>
            <a:r>
              <a:rPr lang="en-US" altLang="ja-JP" sz="1100" b="0" dirty="0">
                <a:solidFill>
                  <a:prstClr val="black"/>
                </a:solidFill>
              </a:rPr>
              <a:t>※</a:t>
            </a:r>
            <a:r>
              <a:rPr lang="ja-JP" altLang="en-US" sz="1100" b="0" dirty="0">
                <a:solidFill>
                  <a:prstClr val="black"/>
                </a:solidFill>
              </a:rPr>
              <a:t>「</a:t>
            </a:r>
            <a:r>
              <a:rPr lang="en-US" altLang="ja-JP" sz="1100" b="0" dirty="0">
                <a:solidFill>
                  <a:prstClr val="black"/>
                </a:solidFill>
              </a:rPr>
              <a:t>StartDash</a:t>
            </a:r>
            <a:r>
              <a:rPr lang="ja-JP" altLang="en-US" sz="1100" b="0" dirty="0">
                <a:solidFill>
                  <a:prstClr val="black"/>
                </a:solidFill>
              </a:rPr>
              <a:t>」をご利用いただくには</a:t>
            </a:r>
            <a:r>
              <a:rPr lang="en-US" altLang="ja-JP" sz="1100" b="0" dirty="0">
                <a:solidFill>
                  <a:prstClr val="black"/>
                </a:solidFill>
              </a:rPr>
              <a:t>Sony Startup Acceleration Program</a:t>
            </a:r>
            <a:r>
              <a:rPr lang="ja-JP" altLang="en-US" sz="1100" b="0" dirty="0">
                <a:solidFill>
                  <a:prstClr val="black"/>
                </a:solidFill>
              </a:rPr>
              <a:t>アカウントへの会員登録が必要です。</a:t>
            </a:r>
            <a:endParaRPr lang="en-US" altLang="ja-JP" sz="1100" b="0" dirty="0">
              <a:solidFill>
                <a:prstClr val="black"/>
              </a:solidFill>
            </a:endParaRPr>
          </a:p>
          <a:p>
            <a:pPr marL="0" lvl="0" indent="0" algn="ctr">
              <a:lnSpc>
                <a:spcPct val="150000"/>
              </a:lnSpc>
              <a:spcBef>
                <a:spcPts val="200"/>
              </a:spcBef>
              <a:buNone/>
            </a:pPr>
            <a:endParaRPr lang="en-US" altLang="ja-JP" sz="1050" dirty="0">
              <a:solidFill>
                <a:prstClr val="black"/>
              </a:solidFill>
              <a:latin typeface="游ゴシック"/>
            </a:endParaRPr>
          </a:p>
          <a:p>
            <a:pPr marL="0" lvl="0" indent="0" algn="ctr">
              <a:lnSpc>
                <a:spcPct val="150000"/>
              </a:lnSpc>
              <a:spcBef>
                <a:spcPts val="200"/>
              </a:spcBef>
              <a:buNone/>
            </a:pPr>
            <a:endParaRPr lang="en-US" altLang="ja-JP" sz="1100" dirty="0">
              <a:solidFill>
                <a:prstClr val="black"/>
              </a:solidFill>
            </a:endParaRPr>
          </a:p>
          <a:p>
            <a:pPr marL="0" lvl="0" indent="0" algn="ctr">
              <a:lnSpc>
                <a:spcPct val="150000"/>
              </a:lnSpc>
              <a:spcBef>
                <a:spcPts val="200"/>
              </a:spcBef>
              <a:buNone/>
            </a:pPr>
            <a:r>
              <a:rPr lang="en-US" altLang="ja-JP" sz="1100" dirty="0">
                <a:solidFill>
                  <a:prstClr val="black"/>
                </a:solidFill>
              </a:rPr>
              <a:t>Sony Startup Acceleration Program</a:t>
            </a:r>
            <a:r>
              <a:rPr lang="ja-JP" altLang="en-US" sz="1100" dirty="0">
                <a:solidFill>
                  <a:prstClr val="black"/>
                </a:solidFill>
              </a:rPr>
              <a:t>ウェブサイトのご利用条件、会員ご利用規約に従ってご利用ください。</a:t>
            </a:r>
            <a:endParaRPr lang="en-US" altLang="ja-JP" sz="1100" dirty="0">
              <a:solidFill>
                <a:prstClr val="black"/>
              </a:solidFill>
            </a:endParaRPr>
          </a:p>
          <a:p>
            <a:pPr marL="0" lvl="0" indent="0"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ja-JP" altLang="en-US" sz="1000" dirty="0">
                <a:solidFill>
                  <a:prstClr val="black"/>
                </a:solidFill>
              </a:rPr>
              <a:t>サイトご利用条件：</a:t>
            </a:r>
            <a:r>
              <a:rPr lang="en-US" altLang="ja-JP" sz="1000" dirty="0">
                <a:solidFill>
                  <a:prstClr val="black"/>
                </a:solidFill>
                <a:hlinkClick r:id="rId4"/>
              </a:rPr>
              <a:t>https://sony-startup-acceleration-program.com/terms_and_conditions</a:t>
            </a:r>
            <a:endParaRPr lang="en-US" altLang="ja-JP" sz="1000" dirty="0">
              <a:solidFill>
                <a:prstClr val="black"/>
              </a:solidFill>
            </a:endParaRPr>
          </a:p>
          <a:p>
            <a:pPr marL="0" lvl="0" indent="0"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ja-JP" altLang="en-US" sz="1000" dirty="0">
                <a:solidFill>
                  <a:prstClr val="black"/>
                </a:solidFill>
              </a:rPr>
              <a:t>会員ご利用規約：</a:t>
            </a:r>
            <a:r>
              <a:rPr lang="en-US" altLang="ja-JP" sz="1000" dirty="0">
                <a:solidFill>
                  <a:prstClr val="black"/>
                </a:solidFill>
                <a:hlinkClick r:id="rId5"/>
              </a:rPr>
              <a:t>https://sony-startup-acceleration-program.com/member_terms_and_conditions</a:t>
            </a:r>
            <a:endParaRPr lang="en-US" altLang="ja-JP" sz="1000" dirty="0">
              <a:solidFill>
                <a:prstClr val="black"/>
              </a:solidFill>
            </a:endParaRPr>
          </a:p>
          <a:p>
            <a:pPr marL="0" lvl="0" indent="0" algn="ctr">
              <a:lnSpc>
                <a:spcPct val="100000"/>
              </a:lnSpc>
              <a:spcBef>
                <a:spcPts val="200"/>
              </a:spcBef>
              <a:buNone/>
            </a:pPr>
            <a:endParaRPr lang="en-US" altLang="ja-JP" sz="1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794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5">
            <a:extLst>
              <a:ext uri="{FF2B5EF4-FFF2-40B4-BE49-F238E27FC236}">
                <a16:creationId xmlns:a16="http://schemas.microsoft.com/office/drawing/2014/main" id="{3DC54CC1-2DD5-4DB0-BB85-E9D89FC25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799244"/>
              </p:ext>
            </p:extLst>
          </p:nvPr>
        </p:nvGraphicFramePr>
        <p:xfrm>
          <a:off x="4672906" y="2056664"/>
          <a:ext cx="3771533" cy="4344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3124">
                  <a:extLst>
                    <a:ext uri="{9D8B030D-6E8A-4147-A177-3AD203B41FA5}">
                      <a16:colId xmlns:a16="http://schemas.microsoft.com/office/drawing/2014/main" val="4168590031"/>
                    </a:ext>
                  </a:extLst>
                </a:gridCol>
                <a:gridCol w="1778409">
                  <a:extLst>
                    <a:ext uri="{9D8B030D-6E8A-4147-A177-3AD203B41FA5}">
                      <a16:colId xmlns:a16="http://schemas.microsoft.com/office/drawing/2014/main" val="3814046240"/>
                    </a:ext>
                  </a:extLst>
                </a:gridCol>
              </a:tblGrid>
              <a:tr h="1189971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515156"/>
                  </a:ext>
                </a:extLst>
              </a:tr>
              <a:tr h="108723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84516"/>
                  </a:ext>
                </a:extLst>
              </a:tr>
              <a:tr h="731295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591195"/>
                  </a:ext>
                </a:extLst>
              </a:tr>
              <a:tr h="678094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162497"/>
                  </a:ext>
                </a:extLst>
              </a:tr>
              <a:tr h="657546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491123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A234D8BD-EDD5-45FC-B279-7AA673A8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ビジネスモデル図の構成</a:t>
            </a:r>
            <a:endParaRPr kumimoji="1" lang="ja-JP" altLang="en-US" dirty="0"/>
          </a:p>
        </p:txBody>
      </p:sp>
      <p:pic>
        <p:nvPicPr>
          <p:cNvPr id="7" name="グラフィックス 6" descr="ユーザー">
            <a:extLst>
              <a:ext uri="{FF2B5EF4-FFF2-40B4-BE49-F238E27FC236}">
                <a16:creationId xmlns:a16="http://schemas.microsoft.com/office/drawing/2014/main" id="{7450C1A7-64C7-48A8-8556-013621CC9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6082" y="3336325"/>
            <a:ext cx="941445" cy="941445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101B9F3-C0AA-4498-98A1-EDF4507BC9E7}"/>
              </a:ext>
            </a:extLst>
          </p:cNvPr>
          <p:cNvSpPr/>
          <p:nvPr/>
        </p:nvSpPr>
        <p:spPr>
          <a:xfrm>
            <a:off x="4861396" y="2385923"/>
            <a:ext cx="1620957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会社、組織、団体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（自社、顧客、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パートナーなど）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C244B6E-BEC1-429C-AAC7-A41EC2F7A7CF}"/>
              </a:ext>
            </a:extLst>
          </p:cNvPr>
          <p:cNvSpPr/>
          <p:nvPr/>
        </p:nvSpPr>
        <p:spPr>
          <a:xfrm>
            <a:off x="5040931" y="3533692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ヒト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（顧客など）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ABFC5F81-E014-4AA7-9E1B-BF00F5DFE52F}"/>
              </a:ext>
            </a:extLst>
          </p:cNvPr>
          <p:cNvSpPr/>
          <p:nvPr/>
        </p:nvSpPr>
        <p:spPr>
          <a:xfrm>
            <a:off x="7430804" y="4595222"/>
            <a:ext cx="252001" cy="252001"/>
          </a:xfrm>
          <a:prstGeom prst="ellipse">
            <a:avLst/>
          </a:prstGeom>
          <a:noFill/>
          <a:ln w="19050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E87BDF6-4A9B-4A8B-9C06-A49E559EB158}"/>
              </a:ext>
            </a:extLst>
          </p:cNvPr>
          <p:cNvSpPr/>
          <p:nvPr/>
        </p:nvSpPr>
        <p:spPr>
          <a:xfrm>
            <a:off x="4592090" y="4441246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モノ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（商品、サービスなど）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59CAB41-5421-4FD6-B9FA-EFEDEDAC6072}"/>
              </a:ext>
            </a:extLst>
          </p:cNvPr>
          <p:cNvSpPr/>
          <p:nvPr/>
        </p:nvSpPr>
        <p:spPr>
          <a:xfrm>
            <a:off x="7147999" y="2121070"/>
            <a:ext cx="817611" cy="1068810"/>
          </a:xfrm>
          <a:prstGeom prst="rect">
            <a:avLst/>
          </a:prstGeom>
          <a:solidFill>
            <a:schemeClr val="bg1"/>
          </a:solidFill>
          <a:ln w="28575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1400" b="1" dirty="0">
                <a:solidFill>
                  <a:schemeClr val="tx1"/>
                </a:solidFill>
                <a:latin typeface="+mn-ea"/>
              </a:rPr>
              <a:t>XXXX</a:t>
            </a:r>
            <a:endParaRPr kumimoji="1" lang="ja-JP" altLang="en-US" sz="14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5" name="グラフィックス 14" descr="元">
            <a:extLst>
              <a:ext uri="{FF2B5EF4-FFF2-40B4-BE49-F238E27FC236}">
                <a16:creationId xmlns:a16="http://schemas.microsoft.com/office/drawing/2014/main" id="{3BF025AC-9B29-4B43-B1FB-BD7B683A83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12804" y="5258409"/>
            <a:ext cx="288000" cy="288000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9A016CA-A558-4A0E-ADF7-45288CB13703}"/>
              </a:ext>
            </a:extLst>
          </p:cNvPr>
          <p:cNvSpPr/>
          <p:nvPr/>
        </p:nvSpPr>
        <p:spPr>
          <a:xfrm>
            <a:off x="5220468" y="5152751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カネ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（対価）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2345E0B-8578-4998-A3EE-7CDBEDEAB4C9}"/>
              </a:ext>
            </a:extLst>
          </p:cNvPr>
          <p:cNvSpPr/>
          <p:nvPr/>
        </p:nvSpPr>
        <p:spPr>
          <a:xfrm>
            <a:off x="5310236" y="5932192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関係性</a:t>
            </a: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F64474D-CDB3-4075-9A3F-E6D5C6BA1C53}"/>
              </a:ext>
            </a:extLst>
          </p:cNvPr>
          <p:cNvCxnSpPr/>
          <p:nvPr/>
        </p:nvCxnSpPr>
        <p:spPr>
          <a:xfrm>
            <a:off x="7144618" y="5987067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52D108F-EA10-46D6-BEEC-01518469A849}"/>
              </a:ext>
            </a:extLst>
          </p:cNvPr>
          <p:cNvCxnSpPr>
            <a:cxnSpLocks/>
          </p:cNvCxnSpPr>
          <p:nvPr/>
        </p:nvCxnSpPr>
        <p:spPr>
          <a:xfrm flipH="1">
            <a:off x="7144618" y="6170289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6BBBD95-1897-4A1A-B51C-8CA0A9C1D9AD}"/>
              </a:ext>
            </a:extLst>
          </p:cNvPr>
          <p:cNvSpPr/>
          <p:nvPr/>
        </p:nvSpPr>
        <p:spPr>
          <a:xfrm>
            <a:off x="869604" y="3996075"/>
            <a:ext cx="817611" cy="1068810"/>
          </a:xfrm>
          <a:prstGeom prst="rect">
            <a:avLst/>
          </a:prstGeom>
          <a:solidFill>
            <a:schemeClr val="bg1"/>
          </a:solidFill>
          <a:ln w="28575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tx1"/>
                </a:solidFill>
                <a:latin typeface="+mn-ea"/>
              </a:rPr>
              <a:t>自社</a:t>
            </a:r>
          </a:p>
        </p:txBody>
      </p:sp>
      <p:pic>
        <p:nvPicPr>
          <p:cNvPr id="28" name="グラフィックス 27" descr="ユーザー">
            <a:extLst>
              <a:ext uri="{FF2B5EF4-FFF2-40B4-BE49-F238E27FC236}">
                <a16:creationId xmlns:a16="http://schemas.microsoft.com/office/drawing/2014/main" id="{92BE4BC3-E81F-4452-934D-3571CB51B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3086" y="3988793"/>
            <a:ext cx="941445" cy="941445"/>
          </a:xfrm>
          <a:prstGeom prst="rect">
            <a:avLst/>
          </a:prstGeom>
        </p:spPr>
      </p:pic>
      <p:sp>
        <p:nvSpPr>
          <p:cNvPr id="31" name="楕円 30">
            <a:extLst>
              <a:ext uri="{FF2B5EF4-FFF2-40B4-BE49-F238E27FC236}">
                <a16:creationId xmlns:a16="http://schemas.microsoft.com/office/drawing/2014/main" id="{238413EB-BBEA-401E-9F46-7B8CEB653E46}"/>
              </a:ext>
            </a:extLst>
          </p:cNvPr>
          <p:cNvSpPr/>
          <p:nvPr/>
        </p:nvSpPr>
        <p:spPr>
          <a:xfrm>
            <a:off x="2192045" y="4069623"/>
            <a:ext cx="252001" cy="252001"/>
          </a:xfrm>
          <a:prstGeom prst="ellipse">
            <a:avLst/>
          </a:prstGeom>
          <a:noFill/>
          <a:ln w="19050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2" name="グラフィックス 31" descr="元">
            <a:extLst>
              <a:ext uri="{FF2B5EF4-FFF2-40B4-BE49-F238E27FC236}">
                <a16:creationId xmlns:a16="http://schemas.microsoft.com/office/drawing/2014/main" id="{16697868-ABF9-4B40-BEB6-8E5F0CC27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74045" y="4661780"/>
            <a:ext cx="288000" cy="288000"/>
          </a:xfrm>
          <a:prstGeom prst="rect">
            <a:avLst/>
          </a:prstGeom>
        </p:spPr>
      </p:pic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BA99AA7-87EE-43CC-8510-5A18AE878515}"/>
              </a:ext>
            </a:extLst>
          </p:cNvPr>
          <p:cNvSpPr/>
          <p:nvPr/>
        </p:nvSpPr>
        <p:spPr>
          <a:xfrm>
            <a:off x="630119" y="1706387"/>
            <a:ext cx="36575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rgbClr val="000000"/>
                </a:solidFill>
                <a:latin typeface="Helvetica Neue"/>
              </a:rPr>
              <a:t>商品・サービスについて</a:t>
            </a:r>
            <a:br>
              <a:rPr lang="ja-JP" altLang="en-US" dirty="0"/>
            </a:br>
            <a:r>
              <a:rPr lang="ja-JP" altLang="en-US" b="1" dirty="0">
                <a:solidFill>
                  <a:srgbClr val="247539"/>
                </a:solidFill>
                <a:latin typeface="Helvetica Neue"/>
              </a:rPr>
              <a:t>誰が、</a:t>
            </a:r>
            <a:endParaRPr lang="en-US" altLang="ja-JP" b="1" dirty="0">
              <a:solidFill>
                <a:srgbClr val="247539"/>
              </a:solidFill>
              <a:latin typeface="Helvetica Neue"/>
            </a:endParaRPr>
          </a:p>
          <a:p>
            <a:r>
              <a:rPr lang="ja-JP" altLang="en-US" b="1" dirty="0">
                <a:solidFill>
                  <a:srgbClr val="247539"/>
                </a:solidFill>
                <a:latin typeface="Helvetica Neue"/>
              </a:rPr>
              <a:t>誰に、</a:t>
            </a:r>
            <a:br>
              <a:rPr lang="ja-JP" altLang="en-US" b="1" dirty="0">
                <a:solidFill>
                  <a:srgbClr val="247539"/>
                </a:solidFill>
                <a:latin typeface="Helvetica Neue"/>
              </a:rPr>
            </a:br>
            <a:r>
              <a:rPr lang="ja-JP" altLang="en-US" b="1" dirty="0">
                <a:solidFill>
                  <a:srgbClr val="247539"/>
                </a:solidFill>
                <a:latin typeface="Helvetica Neue"/>
              </a:rPr>
              <a:t>何を提供し、</a:t>
            </a:r>
            <a:br>
              <a:rPr lang="ja-JP" altLang="en-US" b="1" dirty="0">
                <a:solidFill>
                  <a:srgbClr val="247539"/>
                </a:solidFill>
                <a:latin typeface="Helvetica Neue"/>
              </a:rPr>
            </a:br>
            <a:r>
              <a:rPr lang="ja-JP" altLang="en-US" b="1" dirty="0">
                <a:solidFill>
                  <a:srgbClr val="247539"/>
                </a:solidFill>
                <a:latin typeface="Helvetica Neue"/>
              </a:rPr>
              <a:t>何を得るのか</a:t>
            </a:r>
            <a:br>
              <a:rPr lang="ja-JP" altLang="en-US" dirty="0">
                <a:solidFill>
                  <a:srgbClr val="247539"/>
                </a:solidFill>
              </a:rPr>
            </a:br>
            <a:r>
              <a:rPr lang="ja-JP" altLang="en-US" b="1" dirty="0">
                <a:solidFill>
                  <a:srgbClr val="000000"/>
                </a:solidFill>
                <a:latin typeface="Helvetica Neue"/>
              </a:rPr>
              <a:t>を図で表現します。</a:t>
            </a:r>
            <a:endParaRPr lang="en-US" altLang="ja-JP" b="1" dirty="0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F4E971A-5780-45A6-A9E6-515D64DCA536}"/>
              </a:ext>
            </a:extLst>
          </p:cNvPr>
          <p:cNvSpPr/>
          <p:nvPr/>
        </p:nvSpPr>
        <p:spPr>
          <a:xfrm>
            <a:off x="2919285" y="4796845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顧客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68670C7C-C93D-4F2A-BB8B-D07C176504DC}"/>
              </a:ext>
            </a:extLst>
          </p:cNvPr>
          <p:cNvSpPr/>
          <p:nvPr/>
        </p:nvSpPr>
        <p:spPr>
          <a:xfrm>
            <a:off x="2031380" y="3803700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商品</a:t>
            </a:r>
            <a:endParaRPr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B589AD2-399E-4A19-8775-79DECFC4D494}"/>
              </a:ext>
            </a:extLst>
          </p:cNvPr>
          <p:cNvSpPr/>
          <p:nvPr/>
        </p:nvSpPr>
        <p:spPr>
          <a:xfrm>
            <a:off x="4653734" y="1677314"/>
            <a:ext cx="1441420" cy="379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ja-JP" altLang="en-US" b="1" dirty="0">
                <a:solidFill>
                  <a:srgbClr val="000000"/>
                </a:solidFill>
                <a:latin typeface="Helvetica Neue"/>
              </a:rPr>
              <a:t>構成要素</a:t>
            </a:r>
            <a:endParaRPr lang="en-US" altLang="ja-JP" b="1" dirty="0">
              <a:solidFill>
                <a:srgbClr val="00AD19"/>
              </a:solidFill>
              <a:latin typeface="Helvetica Neue"/>
            </a:endParaRP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27A64993-63CB-4F8C-9534-4CE9E6BE6A0F}"/>
              </a:ext>
            </a:extLst>
          </p:cNvPr>
          <p:cNvCxnSpPr/>
          <p:nvPr/>
        </p:nvCxnSpPr>
        <p:spPr>
          <a:xfrm>
            <a:off x="1878784" y="4412000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0B791F4F-3369-4752-91FB-6E569F11242F}"/>
              </a:ext>
            </a:extLst>
          </p:cNvPr>
          <p:cNvCxnSpPr>
            <a:cxnSpLocks/>
          </p:cNvCxnSpPr>
          <p:nvPr/>
        </p:nvCxnSpPr>
        <p:spPr>
          <a:xfrm flipH="1">
            <a:off x="1878784" y="4595222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8696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34D8BD-EDD5-45FC-B279-7AA673A8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>
                <a:latin typeface="+mn-ea"/>
                <a:ea typeface="+mn-ea"/>
              </a:rPr>
              <a:t>例</a:t>
            </a:r>
            <a:r>
              <a:rPr lang="en-US" altLang="ja-JP" dirty="0">
                <a:latin typeface="+mn-ea"/>
                <a:ea typeface="+mn-ea"/>
              </a:rPr>
              <a:t>1</a:t>
            </a:r>
            <a:r>
              <a:rPr lang="ja-JP" altLang="en-US" dirty="0">
                <a:latin typeface="+mn-ea"/>
                <a:ea typeface="+mn-ea"/>
              </a:rPr>
              <a:t>：月額課金の動画配信サービス</a:t>
            </a:r>
            <a:endParaRPr kumimoji="1" lang="ja-JP" altLang="en-US" dirty="0">
              <a:latin typeface="+mn-ea"/>
              <a:ea typeface="+mn-ea"/>
            </a:endParaRPr>
          </a:p>
        </p:txBody>
      </p:sp>
      <p:pic>
        <p:nvPicPr>
          <p:cNvPr id="28" name="グラフィックス 27" descr="ユーザー">
            <a:extLst>
              <a:ext uri="{FF2B5EF4-FFF2-40B4-BE49-F238E27FC236}">
                <a16:creationId xmlns:a16="http://schemas.microsoft.com/office/drawing/2014/main" id="{92BE4BC3-E81F-4452-934D-3571CB51B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7312" y="2959064"/>
            <a:ext cx="941445" cy="941445"/>
          </a:xfrm>
          <a:prstGeom prst="rect">
            <a:avLst/>
          </a:prstGeom>
        </p:spPr>
      </p:pic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F4E971A-5780-45A6-A9E6-515D64DCA536}"/>
              </a:ext>
            </a:extLst>
          </p:cNvPr>
          <p:cNvSpPr/>
          <p:nvPr/>
        </p:nvSpPr>
        <p:spPr>
          <a:xfrm>
            <a:off x="6313511" y="3767116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顧客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BA3C38A2-EB86-4DE9-B934-4439AACC2A32}"/>
              </a:ext>
            </a:extLst>
          </p:cNvPr>
          <p:cNvSpPr/>
          <p:nvPr/>
        </p:nvSpPr>
        <p:spPr>
          <a:xfrm>
            <a:off x="2092044" y="3006083"/>
            <a:ext cx="817611" cy="1068810"/>
          </a:xfrm>
          <a:prstGeom prst="rect">
            <a:avLst/>
          </a:prstGeom>
          <a:solidFill>
            <a:schemeClr val="bg1"/>
          </a:solidFill>
          <a:ln w="28575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kumimoji="1" lang="ja-JP" altLang="en-US" sz="1200" b="1" dirty="0">
                <a:solidFill>
                  <a:prstClr val="black"/>
                </a:solidFill>
                <a:latin typeface="游ゴシック"/>
              </a:rPr>
              <a:t>コンテンツメーカー</a:t>
            </a:r>
            <a:endParaRPr kumimoji="1" lang="en-US" altLang="ja-JP" sz="1200" b="1" dirty="0">
              <a:solidFill>
                <a:prstClr val="black"/>
              </a:solidFill>
              <a:latin typeface="游ゴシック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D313585-41C8-4E31-A658-49454D703C9C}"/>
              </a:ext>
            </a:extLst>
          </p:cNvPr>
          <p:cNvSpPr/>
          <p:nvPr/>
        </p:nvSpPr>
        <p:spPr>
          <a:xfrm>
            <a:off x="4178769" y="3006083"/>
            <a:ext cx="817611" cy="1068810"/>
          </a:xfrm>
          <a:prstGeom prst="rect">
            <a:avLst/>
          </a:prstGeom>
          <a:solidFill>
            <a:schemeClr val="bg1"/>
          </a:solidFill>
          <a:ln w="28575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自社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A2A95527-D1CE-4EF4-B5F5-2D8B01B860AD}"/>
              </a:ext>
            </a:extLst>
          </p:cNvPr>
          <p:cNvSpPr/>
          <p:nvPr/>
        </p:nvSpPr>
        <p:spPr>
          <a:xfrm>
            <a:off x="3418134" y="3071098"/>
            <a:ext cx="252001" cy="252001"/>
          </a:xfrm>
          <a:prstGeom prst="ellipse">
            <a:avLst/>
          </a:prstGeom>
          <a:noFill/>
          <a:ln w="19050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9" name="グラフィックス 48" descr="元">
            <a:extLst>
              <a:ext uri="{FF2B5EF4-FFF2-40B4-BE49-F238E27FC236}">
                <a16:creationId xmlns:a16="http://schemas.microsoft.com/office/drawing/2014/main" id="{816EA9EE-AF28-4422-95C5-26DBF1864D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0134" y="3735173"/>
            <a:ext cx="288000" cy="288000"/>
          </a:xfrm>
          <a:prstGeom prst="rect">
            <a:avLst/>
          </a:prstGeom>
        </p:spPr>
      </p:pic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86C19F96-3E55-43C5-BB88-81DF7959B645}"/>
              </a:ext>
            </a:extLst>
          </p:cNvPr>
          <p:cNvSpPr/>
          <p:nvPr/>
        </p:nvSpPr>
        <p:spPr>
          <a:xfrm>
            <a:off x="3002960" y="2570098"/>
            <a:ext cx="10823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動画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コンテンツ</a:t>
            </a:r>
            <a:endParaRPr lang="ja-JP" altLang="en-US" dirty="0"/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C8B4FEE1-93AF-4905-9B02-8DE2D68E764D}"/>
              </a:ext>
            </a:extLst>
          </p:cNvPr>
          <p:cNvSpPr/>
          <p:nvPr/>
        </p:nvSpPr>
        <p:spPr>
          <a:xfrm>
            <a:off x="5491793" y="3069388"/>
            <a:ext cx="252001" cy="252001"/>
          </a:xfrm>
          <a:prstGeom prst="ellipse">
            <a:avLst/>
          </a:prstGeom>
          <a:noFill/>
          <a:ln w="19050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54" name="グラフィックス 53" descr="元">
            <a:extLst>
              <a:ext uri="{FF2B5EF4-FFF2-40B4-BE49-F238E27FC236}">
                <a16:creationId xmlns:a16="http://schemas.microsoft.com/office/drawing/2014/main" id="{B1D5D41F-8B9C-4C19-AEEF-304CEC2FD9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3793" y="3733463"/>
            <a:ext cx="288000" cy="288000"/>
          </a:xfrm>
          <a:prstGeom prst="rect">
            <a:avLst/>
          </a:prstGeom>
        </p:spPr>
      </p:pic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DADCB3B6-814B-4180-B58F-20CDC7AF7AF8}"/>
              </a:ext>
            </a:extLst>
          </p:cNvPr>
          <p:cNvSpPr/>
          <p:nvPr/>
        </p:nvSpPr>
        <p:spPr>
          <a:xfrm>
            <a:off x="5166387" y="2570098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動画配信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サービス</a:t>
            </a:r>
            <a:endParaRPr lang="ja-JP" altLang="en-US" dirty="0"/>
          </a:p>
        </p:txBody>
      </p: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30ADFA39-C777-4334-BF02-B635F57FF49C}"/>
              </a:ext>
            </a:extLst>
          </p:cNvPr>
          <p:cNvCxnSpPr/>
          <p:nvPr/>
        </p:nvCxnSpPr>
        <p:spPr>
          <a:xfrm>
            <a:off x="3091136" y="3443660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66B8D604-152C-4EE8-AB31-1A0AD17BB48A}"/>
              </a:ext>
            </a:extLst>
          </p:cNvPr>
          <p:cNvCxnSpPr>
            <a:cxnSpLocks/>
          </p:cNvCxnSpPr>
          <p:nvPr/>
        </p:nvCxnSpPr>
        <p:spPr>
          <a:xfrm flipH="1">
            <a:off x="3091136" y="3626882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78978C7C-7AF7-4513-A312-670EE65737FB}"/>
              </a:ext>
            </a:extLst>
          </p:cNvPr>
          <p:cNvCxnSpPr/>
          <p:nvPr/>
        </p:nvCxnSpPr>
        <p:spPr>
          <a:xfrm>
            <a:off x="5186935" y="3443660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AE78D8A9-4865-4260-8096-6BEE039871CD}"/>
              </a:ext>
            </a:extLst>
          </p:cNvPr>
          <p:cNvCxnSpPr>
            <a:cxnSpLocks/>
          </p:cNvCxnSpPr>
          <p:nvPr/>
        </p:nvCxnSpPr>
        <p:spPr>
          <a:xfrm flipH="1">
            <a:off x="5186935" y="3626882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A1B2A05-A45C-4B73-8F82-307B0CC7DF45}"/>
              </a:ext>
            </a:extLst>
          </p:cNvPr>
          <p:cNvSpPr/>
          <p:nvPr/>
        </p:nvSpPr>
        <p:spPr>
          <a:xfrm>
            <a:off x="5091833" y="4013692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月額利用料</a:t>
            </a:r>
            <a:endParaRPr lang="ja-JP" altLang="en-US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6B80F47-111B-4C96-BA0E-9C2B6BDEF860}"/>
              </a:ext>
            </a:extLst>
          </p:cNvPr>
          <p:cNvSpPr/>
          <p:nvPr/>
        </p:nvSpPr>
        <p:spPr>
          <a:xfrm>
            <a:off x="2916416" y="4013692"/>
            <a:ext cx="12618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ライセンス料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79887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34D8BD-EDD5-45FC-B279-7AA673A8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>
                <a:latin typeface="+mn-ea"/>
                <a:ea typeface="+mn-ea"/>
              </a:rPr>
              <a:t>例</a:t>
            </a:r>
            <a:r>
              <a:rPr lang="en-US" altLang="ja-JP" dirty="0">
                <a:latin typeface="+mn-ea"/>
                <a:ea typeface="+mn-ea"/>
              </a:rPr>
              <a:t>2</a:t>
            </a:r>
            <a:r>
              <a:rPr lang="ja-JP" altLang="en-US" dirty="0">
                <a:latin typeface="+mn-ea"/>
                <a:ea typeface="+mn-ea"/>
              </a:rPr>
              <a:t>：インターネット検索サイト</a:t>
            </a:r>
            <a:endParaRPr kumimoji="1" lang="ja-JP" altLang="en-US" dirty="0">
              <a:latin typeface="+mn-ea"/>
              <a:ea typeface="+mn-ea"/>
            </a:endParaRPr>
          </a:p>
        </p:txBody>
      </p:sp>
      <p:pic>
        <p:nvPicPr>
          <p:cNvPr id="28" name="グラフィックス 27" descr="ユーザー">
            <a:extLst>
              <a:ext uri="{FF2B5EF4-FFF2-40B4-BE49-F238E27FC236}">
                <a16:creationId xmlns:a16="http://schemas.microsoft.com/office/drawing/2014/main" id="{92BE4BC3-E81F-4452-934D-3571CB51B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3780" y="2959064"/>
            <a:ext cx="941445" cy="941445"/>
          </a:xfrm>
          <a:prstGeom prst="rect">
            <a:avLst/>
          </a:prstGeom>
        </p:spPr>
      </p:pic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F4E971A-5780-45A6-A9E6-515D64DCA536}"/>
              </a:ext>
            </a:extLst>
          </p:cNvPr>
          <p:cNvSpPr/>
          <p:nvPr/>
        </p:nvSpPr>
        <p:spPr>
          <a:xfrm>
            <a:off x="6130443" y="3767116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ユーザー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BA3C38A2-EB86-4DE9-B934-4439AACC2A32}"/>
              </a:ext>
            </a:extLst>
          </p:cNvPr>
          <p:cNvSpPr/>
          <p:nvPr/>
        </p:nvSpPr>
        <p:spPr>
          <a:xfrm>
            <a:off x="2093120" y="3006083"/>
            <a:ext cx="817611" cy="1068810"/>
          </a:xfrm>
          <a:prstGeom prst="rect">
            <a:avLst/>
          </a:prstGeom>
          <a:solidFill>
            <a:schemeClr val="bg1"/>
          </a:solidFill>
          <a:ln w="28575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顧客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企業</a:t>
            </a:r>
            <a:endParaRPr kumimoji="1" lang="ja-JP" altLang="en-US" sz="1200" b="1" dirty="0">
              <a:solidFill>
                <a:prstClr val="black"/>
              </a:solidFill>
              <a:latin typeface="游ゴシック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D313585-41C8-4E31-A658-49454D703C9C}"/>
              </a:ext>
            </a:extLst>
          </p:cNvPr>
          <p:cNvSpPr/>
          <p:nvPr/>
        </p:nvSpPr>
        <p:spPr>
          <a:xfrm>
            <a:off x="4178769" y="3006083"/>
            <a:ext cx="817611" cy="1068810"/>
          </a:xfrm>
          <a:prstGeom prst="rect">
            <a:avLst/>
          </a:prstGeom>
          <a:solidFill>
            <a:schemeClr val="bg1"/>
          </a:solidFill>
          <a:ln w="28575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自社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A2A95527-D1CE-4EF4-B5F5-2D8B01B860AD}"/>
              </a:ext>
            </a:extLst>
          </p:cNvPr>
          <p:cNvSpPr/>
          <p:nvPr/>
        </p:nvSpPr>
        <p:spPr>
          <a:xfrm>
            <a:off x="3418134" y="3071098"/>
            <a:ext cx="252001" cy="252001"/>
          </a:xfrm>
          <a:prstGeom prst="ellipse">
            <a:avLst/>
          </a:prstGeom>
          <a:noFill/>
          <a:ln w="19050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9" name="グラフィックス 48" descr="元">
            <a:extLst>
              <a:ext uri="{FF2B5EF4-FFF2-40B4-BE49-F238E27FC236}">
                <a16:creationId xmlns:a16="http://schemas.microsoft.com/office/drawing/2014/main" id="{816EA9EE-AF28-4422-95C5-26DBF1864D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0134" y="3735173"/>
            <a:ext cx="288000" cy="288000"/>
          </a:xfrm>
          <a:prstGeom prst="rect">
            <a:avLst/>
          </a:prstGeom>
        </p:spPr>
      </p:pic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86C19F96-3E55-43C5-BB88-81DF7959B645}"/>
              </a:ext>
            </a:extLst>
          </p:cNvPr>
          <p:cNvSpPr/>
          <p:nvPr/>
        </p:nvSpPr>
        <p:spPr>
          <a:xfrm>
            <a:off x="3182497" y="2761611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広告枠</a:t>
            </a:r>
            <a:endParaRPr lang="ja-JP" altLang="en-US" dirty="0"/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C8B4FEE1-93AF-4905-9B02-8DE2D68E764D}"/>
              </a:ext>
            </a:extLst>
          </p:cNvPr>
          <p:cNvSpPr/>
          <p:nvPr/>
        </p:nvSpPr>
        <p:spPr>
          <a:xfrm>
            <a:off x="5491793" y="3069388"/>
            <a:ext cx="252001" cy="252001"/>
          </a:xfrm>
          <a:prstGeom prst="ellipse">
            <a:avLst/>
          </a:prstGeom>
          <a:noFill/>
          <a:ln w="19050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DADCB3B6-814B-4180-B58F-20CDC7AF7AF8}"/>
              </a:ext>
            </a:extLst>
          </p:cNvPr>
          <p:cNvSpPr/>
          <p:nvPr/>
        </p:nvSpPr>
        <p:spPr>
          <a:xfrm>
            <a:off x="5166387" y="2570098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検索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サービス</a:t>
            </a:r>
            <a:endParaRPr lang="ja-JP" altLang="en-US" dirty="0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EBD3F7A1-B425-4EC5-97AD-A610E593CBE0}"/>
              </a:ext>
            </a:extLst>
          </p:cNvPr>
          <p:cNvSpPr/>
          <p:nvPr/>
        </p:nvSpPr>
        <p:spPr>
          <a:xfrm>
            <a:off x="5511766" y="3753172"/>
            <a:ext cx="252001" cy="252001"/>
          </a:xfrm>
          <a:prstGeom prst="ellipse">
            <a:avLst/>
          </a:prstGeom>
          <a:noFill/>
          <a:ln w="19050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A6A9E68-8856-4EDF-A727-388BC03AE3BF}"/>
              </a:ext>
            </a:extLst>
          </p:cNvPr>
          <p:cNvSpPr/>
          <p:nvPr/>
        </p:nvSpPr>
        <p:spPr>
          <a:xfrm>
            <a:off x="5276127" y="4000983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データ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47CCB45A-4435-4CBF-95F6-A801DAFA4087}"/>
              </a:ext>
            </a:extLst>
          </p:cNvPr>
          <p:cNvCxnSpPr>
            <a:cxnSpLocks/>
          </p:cNvCxnSpPr>
          <p:nvPr/>
        </p:nvCxnSpPr>
        <p:spPr>
          <a:xfrm flipH="1">
            <a:off x="3091136" y="3443660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7311D28F-993D-4CB8-B082-ED9CCCAEF544}"/>
              </a:ext>
            </a:extLst>
          </p:cNvPr>
          <p:cNvCxnSpPr>
            <a:cxnSpLocks/>
          </p:cNvCxnSpPr>
          <p:nvPr/>
        </p:nvCxnSpPr>
        <p:spPr>
          <a:xfrm>
            <a:off x="3091136" y="3626882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A901AAD7-2F93-424D-A0D0-49FB7362D207}"/>
              </a:ext>
            </a:extLst>
          </p:cNvPr>
          <p:cNvCxnSpPr/>
          <p:nvPr/>
        </p:nvCxnSpPr>
        <p:spPr>
          <a:xfrm>
            <a:off x="5186935" y="3443660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132614E-6C13-4E2F-B1BF-48BA6582DD3A}"/>
              </a:ext>
            </a:extLst>
          </p:cNvPr>
          <p:cNvCxnSpPr>
            <a:cxnSpLocks/>
          </p:cNvCxnSpPr>
          <p:nvPr/>
        </p:nvCxnSpPr>
        <p:spPr>
          <a:xfrm flipH="1">
            <a:off x="5186935" y="3626882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16E9E84-AB6A-4477-8084-AA9061AF26A6}"/>
              </a:ext>
            </a:extLst>
          </p:cNvPr>
          <p:cNvSpPr/>
          <p:nvPr/>
        </p:nvSpPr>
        <p:spPr>
          <a:xfrm>
            <a:off x="3185721" y="4013692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広告費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52538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34D8BD-EDD5-45FC-B279-7AA673A8D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15" y="165101"/>
            <a:ext cx="8675370" cy="1044573"/>
          </a:xfrm>
        </p:spPr>
        <p:txBody>
          <a:bodyPr>
            <a:normAutofit/>
          </a:bodyPr>
          <a:lstStyle/>
          <a:p>
            <a:r>
              <a:rPr lang="ja-JP" altLang="en-US" dirty="0">
                <a:latin typeface="+mn-ea"/>
                <a:ea typeface="+mn-ea"/>
              </a:rPr>
              <a:t>例</a:t>
            </a:r>
            <a:r>
              <a:rPr lang="en-US" altLang="ja-JP" dirty="0">
                <a:latin typeface="+mn-ea"/>
                <a:ea typeface="+mn-ea"/>
              </a:rPr>
              <a:t>3</a:t>
            </a:r>
            <a:r>
              <a:rPr lang="ja-JP" altLang="en-US" dirty="0">
                <a:latin typeface="+mn-ea"/>
                <a:ea typeface="+mn-ea"/>
              </a:rPr>
              <a:t>：オンラインフリーマーケットサービス</a:t>
            </a:r>
            <a:endParaRPr kumimoji="1" lang="ja-JP" altLang="en-US" dirty="0">
              <a:latin typeface="+mn-ea"/>
              <a:ea typeface="+mn-ea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D313585-41C8-4E31-A658-49454D703C9C}"/>
              </a:ext>
            </a:extLst>
          </p:cNvPr>
          <p:cNvSpPr/>
          <p:nvPr/>
        </p:nvSpPr>
        <p:spPr>
          <a:xfrm>
            <a:off x="4178769" y="2457407"/>
            <a:ext cx="817611" cy="1068810"/>
          </a:xfrm>
          <a:prstGeom prst="rect">
            <a:avLst/>
          </a:prstGeom>
          <a:solidFill>
            <a:schemeClr val="bg1"/>
          </a:solidFill>
          <a:ln w="28575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自社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A2A95527-D1CE-4EF4-B5F5-2D8B01B860AD}"/>
              </a:ext>
            </a:extLst>
          </p:cNvPr>
          <p:cNvSpPr/>
          <p:nvPr/>
        </p:nvSpPr>
        <p:spPr>
          <a:xfrm>
            <a:off x="3510600" y="2740619"/>
            <a:ext cx="252001" cy="252001"/>
          </a:xfrm>
          <a:prstGeom prst="ellipse">
            <a:avLst/>
          </a:prstGeom>
          <a:noFill/>
          <a:ln w="19050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9" name="グラフィックス 48" descr="元">
            <a:extLst>
              <a:ext uri="{FF2B5EF4-FFF2-40B4-BE49-F238E27FC236}">
                <a16:creationId xmlns:a16="http://schemas.microsoft.com/office/drawing/2014/main" id="{816EA9EE-AF28-4422-95C5-26DBF1864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2600" y="3303665"/>
            <a:ext cx="288000" cy="288000"/>
          </a:xfrm>
          <a:prstGeom prst="rect">
            <a:avLst/>
          </a:prstGeom>
        </p:spPr>
      </p:pic>
      <p:sp>
        <p:nvSpPr>
          <p:cNvPr id="53" name="楕円 52">
            <a:extLst>
              <a:ext uri="{FF2B5EF4-FFF2-40B4-BE49-F238E27FC236}">
                <a16:creationId xmlns:a16="http://schemas.microsoft.com/office/drawing/2014/main" id="{C8B4FEE1-93AF-4905-9B02-8DE2D68E764D}"/>
              </a:ext>
            </a:extLst>
          </p:cNvPr>
          <p:cNvSpPr/>
          <p:nvPr/>
        </p:nvSpPr>
        <p:spPr>
          <a:xfrm>
            <a:off x="5450697" y="2740620"/>
            <a:ext cx="252001" cy="252001"/>
          </a:xfrm>
          <a:prstGeom prst="ellipse">
            <a:avLst/>
          </a:prstGeom>
          <a:noFill/>
          <a:ln w="19050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DADCB3B6-814B-4180-B58F-20CDC7AF7AF8}"/>
              </a:ext>
            </a:extLst>
          </p:cNvPr>
          <p:cNvSpPr/>
          <p:nvPr/>
        </p:nvSpPr>
        <p:spPr>
          <a:xfrm>
            <a:off x="5125291" y="2241330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フリマ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サービス</a:t>
            </a:r>
            <a:endParaRPr lang="ja-JP" altLang="en-US" dirty="0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47CCB45A-4435-4CBF-95F6-A801DAFA4087}"/>
              </a:ext>
            </a:extLst>
          </p:cNvPr>
          <p:cNvCxnSpPr>
            <a:cxnSpLocks/>
          </p:cNvCxnSpPr>
          <p:nvPr/>
        </p:nvCxnSpPr>
        <p:spPr>
          <a:xfrm flipH="1">
            <a:off x="3183602" y="3063522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7311D28F-993D-4CB8-B082-ED9CCCAEF544}"/>
              </a:ext>
            </a:extLst>
          </p:cNvPr>
          <p:cNvCxnSpPr>
            <a:cxnSpLocks/>
          </p:cNvCxnSpPr>
          <p:nvPr/>
        </p:nvCxnSpPr>
        <p:spPr>
          <a:xfrm>
            <a:off x="3183602" y="3246744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A901AAD7-2F93-424D-A0D0-49FB7362D207}"/>
              </a:ext>
            </a:extLst>
          </p:cNvPr>
          <p:cNvCxnSpPr/>
          <p:nvPr/>
        </p:nvCxnSpPr>
        <p:spPr>
          <a:xfrm>
            <a:off x="5145839" y="3063522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グラフィックス 28" descr="ユーザー">
            <a:extLst>
              <a:ext uri="{FF2B5EF4-FFF2-40B4-BE49-F238E27FC236}">
                <a16:creationId xmlns:a16="http://schemas.microsoft.com/office/drawing/2014/main" id="{5574EE7F-FC09-47BB-8EC3-AC0534BC9B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21510" y="2959547"/>
            <a:ext cx="941445" cy="941445"/>
          </a:xfrm>
          <a:prstGeom prst="rect">
            <a:avLst/>
          </a:prstGeom>
        </p:spPr>
      </p:pic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5D3553B-EDDF-4632-B634-33A8B4ACE785}"/>
              </a:ext>
            </a:extLst>
          </p:cNvPr>
          <p:cNvSpPr/>
          <p:nvPr/>
        </p:nvSpPr>
        <p:spPr>
          <a:xfrm>
            <a:off x="2138405" y="3767599"/>
            <a:ext cx="10823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顧客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（出品者）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9F1BA94E-02FC-4D38-8D23-B257DEF49A28}"/>
              </a:ext>
            </a:extLst>
          </p:cNvPr>
          <p:cNvSpPr/>
          <p:nvPr/>
        </p:nvSpPr>
        <p:spPr>
          <a:xfrm>
            <a:off x="3173514" y="2249759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フリマ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サービス</a:t>
            </a:r>
            <a:endParaRPr lang="ja-JP" altLang="en-US" dirty="0"/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3778B40F-E1A4-41F0-9759-3DF7787AE042}"/>
              </a:ext>
            </a:extLst>
          </p:cNvPr>
          <p:cNvCxnSpPr>
            <a:cxnSpLocks/>
          </p:cNvCxnSpPr>
          <p:nvPr/>
        </p:nvCxnSpPr>
        <p:spPr>
          <a:xfrm>
            <a:off x="3183602" y="4206806"/>
            <a:ext cx="280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87F8BD3F-0610-44DE-8344-F58EB55A2C20}"/>
              </a:ext>
            </a:extLst>
          </p:cNvPr>
          <p:cNvCxnSpPr>
            <a:cxnSpLocks/>
          </p:cNvCxnSpPr>
          <p:nvPr/>
        </p:nvCxnSpPr>
        <p:spPr>
          <a:xfrm flipH="1">
            <a:off x="3183602" y="4390028"/>
            <a:ext cx="280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楕円 36">
            <a:extLst>
              <a:ext uri="{FF2B5EF4-FFF2-40B4-BE49-F238E27FC236}">
                <a16:creationId xmlns:a16="http://schemas.microsoft.com/office/drawing/2014/main" id="{48DD7081-C573-44CF-B729-D2A0C194758D}"/>
              </a:ext>
            </a:extLst>
          </p:cNvPr>
          <p:cNvSpPr/>
          <p:nvPr/>
        </p:nvSpPr>
        <p:spPr>
          <a:xfrm>
            <a:off x="4482857" y="3896489"/>
            <a:ext cx="252001" cy="252001"/>
          </a:xfrm>
          <a:prstGeom prst="ellipse">
            <a:avLst/>
          </a:prstGeom>
          <a:noFill/>
          <a:ln w="19050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B8CEC433-0E18-4D40-BBAB-D58875E112A7}"/>
              </a:ext>
            </a:extLst>
          </p:cNvPr>
          <p:cNvSpPr/>
          <p:nvPr/>
        </p:nvSpPr>
        <p:spPr>
          <a:xfrm>
            <a:off x="4247218" y="3622708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出品物</a:t>
            </a:r>
            <a:endParaRPr lang="ja-JP" altLang="en-US" dirty="0"/>
          </a:p>
        </p:txBody>
      </p:sp>
      <p:pic>
        <p:nvPicPr>
          <p:cNvPr id="39" name="グラフィックス 38" descr="元">
            <a:extLst>
              <a:ext uri="{FF2B5EF4-FFF2-40B4-BE49-F238E27FC236}">
                <a16:creationId xmlns:a16="http://schemas.microsoft.com/office/drawing/2014/main" id="{B3744F1C-5121-4337-ACFD-739D8EEF3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3777" y="4432850"/>
            <a:ext cx="288000" cy="288000"/>
          </a:xfrm>
          <a:prstGeom prst="rect">
            <a:avLst/>
          </a:prstGeom>
        </p:spPr>
      </p:pic>
      <p:pic>
        <p:nvPicPr>
          <p:cNvPr id="40" name="グラフィックス 39" descr="ユーザー">
            <a:extLst>
              <a:ext uri="{FF2B5EF4-FFF2-40B4-BE49-F238E27FC236}">
                <a16:creationId xmlns:a16="http://schemas.microsoft.com/office/drawing/2014/main" id="{B7F9B6C5-C9BD-496A-A98B-96090D2F61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6014" y="2959064"/>
            <a:ext cx="941445" cy="941445"/>
          </a:xfrm>
          <a:prstGeom prst="rect">
            <a:avLst/>
          </a:prstGeom>
        </p:spPr>
      </p:pic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51DD3BD2-EE54-4022-A385-D007CAC3E5D2}"/>
              </a:ext>
            </a:extLst>
          </p:cNvPr>
          <p:cNvSpPr/>
          <p:nvPr/>
        </p:nvSpPr>
        <p:spPr>
          <a:xfrm>
            <a:off x="5962909" y="3767599"/>
            <a:ext cx="10823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顧客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（購入者）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24628A7B-BB64-42D3-96FC-ED3C76AF28EB}"/>
              </a:ext>
            </a:extLst>
          </p:cNvPr>
          <p:cNvSpPr/>
          <p:nvPr/>
        </p:nvSpPr>
        <p:spPr>
          <a:xfrm>
            <a:off x="4335191" y="4698969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代金</a:t>
            </a:r>
            <a:endParaRPr lang="ja-JP" altLang="en-US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C73A8FE-BDDE-4854-8FD4-12D2A6DE3D47}"/>
              </a:ext>
            </a:extLst>
          </p:cNvPr>
          <p:cNvSpPr/>
          <p:nvPr/>
        </p:nvSpPr>
        <p:spPr>
          <a:xfrm>
            <a:off x="3275934" y="3557533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手数料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47281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34D8BD-EDD5-45FC-B279-7AA673A8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>
                <a:latin typeface="+mn-ea"/>
                <a:ea typeface="+mn-ea"/>
              </a:rPr>
              <a:t>例</a:t>
            </a:r>
            <a:r>
              <a:rPr lang="en-US" altLang="ja-JP" dirty="0">
                <a:latin typeface="+mn-ea"/>
                <a:ea typeface="+mn-ea"/>
              </a:rPr>
              <a:t>4</a:t>
            </a:r>
            <a:r>
              <a:rPr lang="ja-JP" altLang="en-US" dirty="0">
                <a:latin typeface="+mn-ea"/>
                <a:ea typeface="+mn-ea"/>
              </a:rPr>
              <a:t>：航空機製造・販売</a:t>
            </a:r>
            <a:endParaRPr kumimoji="1" lang="ja-JP" altLang="en-US" dirty="0">
              <a:latin typeface="+mn-ea"/>
              <a:ea typeface="+mn-ea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BA3C38A2-EB86-4DE9-B934-4439AACC2A32}"/>
              </a:ext>
            </a:extLst>
          </p:cNvPr>
          <p:cNvSpPr/>
          <p:nvPr/>
        </p:nvSpPr>
        <p:spPr>
          <a:xfrm>
            <a:off x="5164970" y="3006083"/>
            <a:ext cx="817611" cy="1068810"/>
          </a:xfrm>
          <a:prstGeom prst="rect">
            <a:avLst/>
          </a:prstGeom>
          <a:solidFill>
            <a:schemeClr val="bg1"/>
          </a:solidFill>
          <a:ln w="28575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顧客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企業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lvl="0" algn="ctr"/>
            <a:r>
              <a:rPr kumimoji="1" lang="en-US" altLang="ja-JP" sz="1200" b="1" dirty="0">
                <a:solidFill>
                  <a:prstClr val="black"/>
                </a:solidFill>
                <a:latin typeface="游ゴシック"/>
              </a:rPr>
              <a:t>(</a:t>
            </a:r>
            <a:r>
              <a:rPr kumimoji="1" lang="ja-JP" altLang="en-US" sz="1200" b="1" dirty="0">
                <a:solidFill>
                  <a:prstClr val="black"/>
                </a:solidFill>
                <a:latin typeface="游ゴシック"/>
              </a:rPr>
              <a:t>航空会社</a:t>
            </a:r>
            <a:r>
              <a:rPr kumimoji="1" lang="en-US" altLang="ja-JP" sz="1200" b="1" dirty="0">
                <a:solidFill>
                  <a:prstClr val="black"/>
                </a:solidFill>
                <a:latin typeface="游ゴシック"/>
              </a:rPr>
              <a:t>)</a:t>
            </a:r>
            <a:endParaRPr kumimoji="1" lang="ja-JP" altLang="en-US" sz="1200" b="1" dirty="0">
              <a:solidFill>
                <a:prstClr val="black"/>
              </a:solidFill>
              <a:latin typeface="游ゴシック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D313585-41C8-4E31-A658-49454D703C9C}"/>
              </a:ext>
            </a:extLst>
          </p:cNvPr>
          <p:cNvSpPr/>
          <p:nvPr/>
        </p:nvSpPr>
        <p:spPr>
          <a:xfrm>
            <a:off x="3110258" y="3006083"/>
            <a:ext cx="817611" cy="1068810"/>
          </a:xfrm>
          <a:prstGeom prst="rect">
            <a:avLst/>
          </a:prstGeom>
          <a:solidFill>
            <a:schemeClr val="bg1"/>
          </a:solidFill>
          <a:ln w="28575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自社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A2A95527-D1CE-4EF4-B5F5-2D8B01B860AD}"/>
              </a:ext>
            </a:extLst>
          </p:cNvPr>
          <p:cNvSpPr/>
          <p:nvPr/>
        </p:nvSpPr>
        <p:spPr>
          <a:xfrm>
            <a:off x="4414726" y="3071098"/>
            <a:ext cx="252001" cy="252001"/>
          </a:xfrm>
          <a:prstGeom prst="ellipse">
            <a:avLst/>
          </a:prstGeom>
          <a:noFill/>
          <a:ln w="19050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9" name="グラフィックス 48" descr="元">
            <a:extLst>
              <a:ext uri="{FF2B5EF4-FFF2-40B4-BE49-F238E27FC236}">
                <a16:creationId xmlns:a16="http://schemas.microsoft.com/office/drawing/2014/main" id="{816EA9EE-AF28-4422-95C5-26DBF1864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6726" y="3735173"/>
            <a:ext cx="288000" cy="288000"/>
          </a:xfrm>
          <a:prstGeom prst="rect">
            <a:avLst/>
          </a:prstGeom>
        </p:spPr>
      </p:pic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86C19F96-3E55-43C5-BB88-81DF7959B645}"/>
              </a:ext>
            </a:extLst>
          </p:cNvPr>
          <p:cNvSpPr/>
          <p:nvPr/>
        </p:nvSpPr>
        <p:spPr>
          <a:xfrm>
            <a:off x="4179089" y="2761611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航空機</a:t>
            </a:r>
            <a:endParaRPr lang="ja-JP" altLang="en-US" dirty="0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47CCB45A-4435-4CBF-95F6-A801DAFA4087}"/>
              </a:ext>
            </a:extLst>
          </p:cNvPr>
          <p:cNvCxnSpPr>
            <a:cxnSpLocks/>
          </p:cNvCxnSpPr>
          <p:nvPr/>
        </p:nvCxnSpPr>
        <p:spPr>
          <a:xfrm>
            <a:off x="4087728" y="3443660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7311D28F-993D-4CB8-B082-ED9CCCAEF544}"/>
              </a:ext>
            </a:extLst>
          </p:cNvPr>
          <p:cNvCxnSpPr>
            <a:cxnSpLocks/>
          </p:cNvCxnSpPr>
          <p:nvPr/>
        </p:nvCxnSpPr>
        <p:spPr>
          <a:xfrm flipH="1">
            <a:off x="4087728" y="3626882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2BF1E2-C797-48CB-8354-EA271267209B}"/>
              </a:ext>
            </a:extLst>
          </p:cNvPr>
          <p:cNvSpPr/>
          <p:nvPr/>
        </p:nvSpPr>
        <p:spPr>
          <a:xfrm>
            <a:off x="4268857" y="4023173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代金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94254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34D8BD-EDD5-45FC-B279-7AA673A8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>
                <a:latin typeface="+mn-ea"/>
                <a:ea typeface="+mn-ea"/>
              </a:rPr>
              <a:t>例</a:t>
            </a:r>
            <a:r>
              <a:rPr lang="en-US" altLang="ja-JP" dirty="0">
                <a:latin typeface="+mn-ea"/>
                <a:ea typeface="+mn-ea"/>
              </a:rPr>
              <a:t>5</a:t>
            </a:r>
            <a:r>
              <a:rPr lang="ja-JP" altLang="en-US" dirty="0">
                <a:latin typeface="+mn-ea"/>
                <a:ea typeface="+mn-ea"/>
              </a:rPr>
              <a:t>：転職支援サービス</a:t>
            </a:r>
            <a:endParaRPr kumimoji="1" lang="ja-JP" altLang="en-US" dirty="0">
              <a:latin typeface="+mn-ea"/>
              <a:ea typeface="+mn-ea"/>
            </a:endParaRPr>
          </a:p>
        </p:txBody>
      </p:sp>
      <p:pic>
        <p:nvPicPr>
          <p:cNvPr id="28" name="グラフィックス 27" descr="ユーザー">
            <a:extLst>
              <a:ext uri="{FF2B5EF4-FFF2-40B4-BE49-F238E27FC236}">
                <a16:creationId xmlns:a16="http://schemas.microsoft.com/office/drawing/2014/main" id="{92BE4BC3-E81F-4452-934D-3571CB51B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6014" y="2057219"/>
            <a:ext cx="941445" cy="941445"/>
          </a:xfrm>
          <a:prstGeom prst="rect">
            <a:avLst/>
          </a:prstGeom>
        </p:spPr>
      </p:pic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F4E971A-5780-45A6-A9E6-515D64DCA536}"/>
              </a:ext>
            </a:extLst>
          </p:cNvPr>
          <p:cNvSpPr/>
          <p:nvPr/>
        </p:nvSpPr>
        <p:spPr>
          <a:xfrm>
            <a:off x="5873141" y="2865271"/>
            <a:ext cx="12618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顧客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（有料会員）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D313585-41C8-4E31-A658-49454D703C9C}"/>
              </a:ext>
            </a:extLst>
          </p:cNvPr>
          <p:cNvSpPr/>
          <p:nvPr/>
        </p:nvSpPr>
        <p:spPr>
          <a:xfrm>
            <a:off x="4158221" y="1972831"/>
            <a:ext cx="817611" cy="2987348"/>
          </a:xfrm>
          <a:prstGeom prst="rect">
            <a:avLst/>
          </a:prstGeom>
          <a:solidFill>
            <a:schemeClr val="bg1"/>
          </a:solidFill>
          <a:ln w="28575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自社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A2A95527-D1CE-4EF4-B5F5-2D8B01B860AD}"/>
              </a:ext>
            </a:extLst>
          </p:cNvPr>
          <p:cNvSpPr/>
          <p:nvPr/>
        </p:nvSpPr>
        <p:spPr>
          <a:xfrm>
            <a:off x="3459230" y="3122468"/>
            <a:ext cx="252001" cy="252001"/>
          </a:xfrm>
          <a:prstGeom prst="ellipse">
            <a:avLst/>
          </a:prstGeom>
          <a:noFill/>
          <a:ln w="19050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9" name="グラフィックス 48" descr="元">
            <a:extLst>
              <a:ext uri="{FF2B5EF4-FFF2-40B4-BE49-F238E27FC236}">
                <a16:creationId xmlns:a16="http://schemas.microsoft.com/office/drawing/2014/main" id="{816EA9EE-AF28-4422-95C5-26DBF1864D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41230" y="3694077"/>
            <a:ext cx="288000" cy="288000"/>
          </a:xfrm>
          <a:prstGeom prst="rect">
            <a:avLst/>
          </a:prstGeom>
        </p:spPr>
      </p:pic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86C19F96-3E55-43C5-BB88-81DF7959B645}"/>
              </a:ext>
            </a:extLst>
          </p:cNvPr>
          <p:cNvSpPr/>
          <p:nvPr/>
        </p:nvSpPr>
        <p:spPr>
          <a:xfrm>
            <a:off x="3133826" y="283691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会員情報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C8B4FEE1-93AF-4905-9B02-8DE2D68E764D}"/>
              </a:ext>
            </a:extLst>
          </p:cNvPr>
          <p:cNvSpPr/>
          <p:nvPr/>
        </p:nvSpPr>
        <p:spPr>
          <a:xfrm>
            <a:off x="5450697" y="2046101"/>
            <a:ext cx="252001" cy="252001"/>
          </a:xfrm>
          <a:prstGeom prst="ellipse">
            <a:avLst/>
          </a:prstGeom>
          <a:noFill/>
          <a:ln w="19050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54" name="グラフィックス 53" descr="元">
            <a:extLst>
              <a:ext uri="{FF2B5EF4-FFF2-40B4-BE49-F238E27FC236}">
                <a16:creationId xmlns:a16="http://schemas.microsoft.com/office/drawing/2014/main" id="{B1D5D41F-8B9C-4C19-AEEF-304CEC2FD9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32697" y="2617710"/>
            <a:ext cx="288000" cy="288000"/>
          </a:xfrm>
          <a:prstGeom prst="rect">
            <a:avLst/>
          </a:prstGeom>
        </p:spPr>
      </p:pic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DADCB3B6-814B-4180-B58F-20CDC7AF7AF8}"/>
              </a:ext>
            </a:extLst>
          </p:cNvPr>
          <p:cNvSpPr/>
          <p:nvPr/>
        </p:nvSpPr>
        <p:spPr>
          <a:xfrm>
            <a:off x="5125292" y="1762254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求人情報</a:t>
            </a:r>
            <a:endParaRPr lang="ja-JP" altLang="en-US" dirty="0"/>
          </a:p>
        </p:txBody>
      </p: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30ADFA39-C777-4334-BF02-B635F57FF49C}"/>
              </a:ext>
            </a:extLst>
          </p:cNvPr>
          <p:cNvCxnSpPr>
            <a:cxnSpLocks/>
          </p:cNvCxnSpPr>
          <p:nvPr/>
        </p:nvCxnSpPr>
        <p:spPr>
          <a:xfrm flipH="1">
            <a:off x="3132232" y="3443660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66B8D604-152C-4EE8-AB31-1A0AD17BB48A}"/>
              </a:ext>
            </a:extLst>
          </p:cNvPr>
          <p:cNvCxnSpPr>
            <a:cxnSpLocks/>
          </p:cNvCxnSpPr>
          <p:nvPr/>
        </p:nvCxnSpPr>
        <p:spPr>
          <a:xfrm>
            <a:off x="3132232" y="3626882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78978C7C-7AF7-4513-A312-670EE65737FB}"/>
              </a:ext>
            </a:extLst>
          </p:cNvPr>
          <p:cNvCxnSpPr/>
          <p:nvPr/>
        </p:nvCxnSpPr>
        <p:spPr>
          <a:xfrm>
            <a:off x="5145839" y="2369003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AE78D8A9-4865-4260-8096-6BEE039871CD}"/>
              </a:ext>
            </a:extLst>
          </p:cNvPr>
          <p:cNvCxnSpPr>
            <a:cxnSpLocks/>
          </p:cNvCxnSpPr>
          <p:nvPr/>
        </p:nvCxnSpPr>
        <p:spPr>
          <a:xfrm flipH="1">
            <a:off x="5145839" y="2552225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17552C8-BA6D-42F4-ACAF-56CCF566469B}"/>
              </a:ext>
            </a:extLst>
          </p:cNvPr>
          <p:cNvSpPr/>
          <p:nvPr/>
        </p:nvSpPr>
        <p:spPr>
          <a:xfrm>
            <a:off x="2154764" y="3006083"/>
            <a:ext cx="817611" cy="1068810"/>
          </a:xfrm>
          <a:prstGeom prst="rect">
            <a:avLst/>
          </a:prstGeom>
          <a:solidFill>
            <a:schemeClr val="bg1"/>
          </a:solidFill>
          <a:ln w="28575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顧客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企業</a:t>
            </a:r>
            <a:endParaRPr kumimoji="1" lang="ja-JP" altLang="en-US" sz="1200" b="1" dirty="0">
              <a:solidFill>
                <a:prstClr val="black"/>
              </a:solidFill>
              <a:latin typeface="游ゴシック"/>
            </a:endParaRPr>
          </a:p>
        </p:txBody>
      </p:sp>
      <p:pic>
        <p:nvPicPr>
          <p:cNvPr id="21" name="グラフィックス 20" descr="ユーザー">
            <a:extLst>
              <a:ext uri="{FF2B5EF4-FFF2-40B4-BE49-F238E27FC236}">
                <a16:creationId xmlns:a16="http://schemas.microsoft.com/office/drawing/2014/main" id="{9D5D1CA7-7313-4B4D-AF07-98440AD1B0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4304" y="3718945"/>
            <a:ext cx="941445" cy="941445"/>
          </a:xfrm>
          <a:prstGeom prst="rect">
            <a:avLst/>
          </a:prstGeom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E0728F7-9B34-46C7-8C19-EE1801BE7244}"/>
              </a:ext>
            </a:extLst>
          </p:cNvPr>
          <p:cNvSpPr/>
          <p:nvPr/>
        </p:nvSpPr>
        <p:spPr>
          <a:xfrm>
            <a:off x="5871431" y="4526997"/>
            <a:ext cx="12618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ユーザー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lvl="0"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（無料会員）</a:t>
            </a: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FAD3F0BC-620B-4B97-B051-9B48E80AF642}"/>
              </a:ext>
            </a:extLst>
          </p:cNvPr>
          <p:cNvSpPr/>
          <p:nvPr/>
        </p:nvSpPr>
        <p:spPr>
          <a:xfrm>
            <a:off x="5448987" y="4545497"/>
            <a:ext cx="252001" cy="252001"/>
          </a:xfrm>
          <a:prstGeom prst="ellipse">
            <a:avLst/>
          </a:prstGeom>
          <a:noFill/>
          <a:ln w="19050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51B56BD-560C-45B4-9B6E-B2842B683549}"/>
              </a:ext>
            </a:extLst>
          </p:cNvPr>
          <p:cNvSpPr/>
          <p:nvPr/>
        </p:nvSpPr>
        <p:spPr>
          <a:xfrm>
            <a:off x="5123581" y="4864812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求人情報</a:t>
            </a:r>
            <a:endParaRPr kumimoji="1" lang="en-US" altLang="ja-JP" sz="1400" b="1" dirty="0">
              <a:solidFill>
                <a:prstClr val="black"/>
              </a:solidFill>
              <a:latin typeface="游ゴシック"/>
            </a:endParaRPr>
          </a:p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（一部）</a:t>
            </a:r>
            <a:endParaRPr lang="ja-JP" altLang="en-US" dirty="0"/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C4AFEB48-E5C0-4364-B12B-A5E735BA890E}"/>
              </a:ext>
            </a:extLst>
          </p:cNvPr>
          <p:cNvCxnSpPr/>
          <p:nvPr/>
        </p:nvCxnSpPr>
        <p:spPr>
          <a:xfrm>
            <a:off x="5144129" y="4460655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BEF7C28-2175-48F7-B98B-408249EB2CD3}"/>
              </a:ext>
            </a:extLst>
          </p:cNvPr>
          <p:cNvSpPr/>
          <p:nvPr/>
        </p:nvSpPr>
        <p:spPr>
          <a:xfrm>
            <a:off x="5133857" y="2849605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登録料金</a:t>
            </a:r>
            <a:endParaRPr lang="ja-JP" altLang="en-US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A820E42-FA3C-4A64-947D-9629495A89C3}"/>
              </a:ext>
            </a:extLst>
          </p:cNvPr>
          <p:cNvSpPr/>
          <p:nvPr/>
        </p:nvSpPr>
        <p:spPr>
          <a:xfrm>
            <a:off x="3047453" y="3940587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紹介手数料</a:t>
            </a:r>
            <a:endParaRPr lang="ja-JP" altLang="en-US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8219B7C1-0778-4EB5-B755-4B7CC4CF3AFA}"/>
              </a:ext>
            </a:extLst>
          </p:cNvPr>
          <p:cNvCxnSpPr>
            <a:cxnSpLocks/>
          </p:cNvCxnSpPr>
          <p:nvPr/>
        </p:nvCxnSpPr>
        <p:spPr>
          <a:xfrm flipH="1">
            <a:off x="5132773" y="3288096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55E285B4-B229-4E88-9C09-56C5D32D1ADB}"/>
              </a:ext>
            </a:extLst>
          </p:cNvPr>
          <p:cNvCxnSpPr>
            <a:cxnSpLocks/>
          </p:cNvCxnSpPr>
          <p:nvPr/>
        </p:nvCxnSpPr>
        <p:spPr>
          <a:xfrm flipH="1">
            <a:off x="5150191" y="3845447"/>
            <a:ext cx="879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楕円 30">
            <a:extLst>
              <a:ext uri="{FF2B5EF4-FFF2-40B4-BE49-F238E27FC236}">
                <a16:creationId xmlns:a16="http://schemas.microsoft.com/office/drawing/2014/main" id="{24F995A5-9F8D-40B1-9F11-4D5F10DC4ECA}"/>
              </a:ext>
            </a:extLst>
          </p:cNvPr>
          <p:cNvSpPr/>
          <p:nvPr/>
        </p:nvSpPr>
        <p:spPr>
          <a:xfrm>
            <a:off x="5463758" y="3443827"/>
            <a:ext cx="252001" cy="252001"/>
          </a:xfrm>
          <a:prstGeom prst="ellipse">
            <a:avLst/>
          </a:prstGeom>
          <a:noFill/>
          <a:ln w="19050">
            <a:solidFill>
              <a:srgbClr val="00AD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DEBFA13-D61C-48C1-8688-764A8CC58B92}"/>
              </a:ext>
            </a:extLst>
          </p:cNvPr>
          <p:cNvSpPr/>
          <p:nvPr/>
        </p:nvSpPr>
        <p:spPr>
          <a:xfrm>
            <a:off x="5675700" y="3420384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prstClr val="black"/>
                </a:solidFill>
                <a:latin typeface="游ゴシック"/>
              </a:rPr>
              <a:t>会員情報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59754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87AAD9-5504-4850-99CC-20EA3AF68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+mn-ea"/>
                <a:ea typeface="+mn-ea"/>
              </a:rPr>
              <a:t>「</a:t>
            </a:r>
            <a:r>
              <a:rPr lang="en-US" altLang="ja-JP" dirty="0">
                <a:latin typeface="+mn-ea"/>
                <a:ea typeface="+mn-ea"/>
              </a:rPr>
              <a:t>StartDash</a:t>
            </a:r>
            <a:r>
              <a:rPr lang="ja-JP" altLang="en-US" dirty="0">
                <a:latin typeface="+mn-ea"/>
                <a:ea typeface="+mn-ea"/>
              </a:rPr>
              <a:t>」に図をアップロードする</a:t>
            </a:r>
            <a:endParaRPr kumimoji="1" lang="ja-JP" altLang="en-US" dirty="0">
              <a:latin typeface="+mn-ea"/>
              <a:ea typeface="+mn-ea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1FD964-E42A-4A02-ADA0-4012E0E3E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81943"/>
            <a:ext cx="7886700" cy="51105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800" dirty="0"/>
              <a:t>図が完成したら、次の手順で「</a:t>
            </a:r>
            <a:r>
              <a:rPr lang="en-US" altLang="ja-JP" sz="1800" dirty="0"/>
              <a:t>StartDash</a:t>
            </a:r>
            <a:r>
              <a:rPr lang="ja-JP" altLang="en-US" sz="1800" dirty="0"/>
              <a:t>」にアップロードしてください。</a:t>
            </a:r>
            <a:endParaRPr lang="en-US" altLang="ja-JP" sz="1800" dirty="0"/>
          </a:p>
          <a:p>
            <a:pPr marL="0" lvl="0" inden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ja-JP" sz="1100" b="0" dirty="0">
                <a:solidFill>
                  <a:prstClr val="black"/>
                </a:solidFill>
              </a:rPr>
              <a:t>※PowerPoint</a:t>
            </a:r>
            <a:r>
              <a:rPr lang="ja-JP" altLang="en-US" sz="1100" b="0" dirty="0">
                <a:solidFill>
                  <a:prstClr val="black"/>
                </a:solidFill>
              </a:rPr>
              <a:t>に関する詳しい使い方は、メニューバーのヘルプよりご確認ください。</a:t>
            </a:r>
            <a:endParaRPr lang="en-US" altLang="ja-JP" sz="1100" b="0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sz="1400" dirty="0"/>
              <a:t>アップロードしたい図を次のようにグループ化します。</a:t>
            </a:r>
            <a:endParaRPr kumimoji="1" lang="en-US" altLang="ja-JP" sz="1400" dirty="0"/>
          </a:p>
          <a:p>
            <a:pPr marL="0" indent="0">
              <a:buNone/>
            </a:pPr>
            <a:endParaRPr lang="en-US" altLang="ja-JP" sz="1400" dirty="0"/>
          </a:p>
          <a:p>
            <a:pPr marL="0" indent="0">
              <a:buNone/>
            </a:pPr>
            <a:endParaRPr lang="en-US" altLang="ja-JP" sz="1400" dirty="0"/>
          </a:p>
          <a:p>
            <a:pPr marL="0" indent="0">
              <a:buNone/>
            </a:pPr>
            <a:endParaRPr lang="en-US" altLang="ja-JP" sz="1400" dirty="0"/>
          </a:p>
          <a:p>
            <a:pPr marL="342900" indent="-342900">
              <a:spcBef>
                <a:spcPts val="1800"/>
              </a:spcBef>
              <a:buFont typeface="+mj-lt"/>
              <a:buAutoNum type="arabicPeriod" startAt="2"/>
            </a:pPr>
            <a:r>
              <a:rPr kumimoji="1" lang="en-US" altLang="ja-JP" sz="1400" dirty="0"/>
              <a:t>1</a:t>
            </a:r>
            <a:r>
              <a:rPr kumimoji="1" lang="ja-JP" altLang="en-US" sz="1400" dirty="0"/>
              <a:t>の図を画像ファイル（</a:t>
            </a:r>
            <a:r>
              <a:rPr lang="en-US" altLang="ja-JP" sz="1400" dirty="0"/>
              <a:t>.</a:t>
            </a:r>
            <a:r>
              <a:rPr kumimoji="1" lang="en-US" altLang="ja-JP" sz="1400" dirty="0"/>
              <a:t>jpg</a:t>
            </a:r>
            <a:r>
              <a:rPr kumimoji="1" lang="ja-JP" altLang="en-US" sz="1400" dirty="0"/>
              <a:t> または </a:t>
            </a:r>
            <a:r>
              <a:rPr kumimoji="1" lang="en-US" altLang="ja-JP" sz="1400" dirty="0"/>
              <a:t>.png</a:t>
            </a:r>
            <a:r>
              <a:rPr kumimoji="1" lang="ja-JP" altLang="en-US" sz="1400" dirty="0"/>
              <a:t>）に保存します。</a:t>
            </a:r>
            <a:endParaRPr kumimoji="1" lang="en-US" altLang="ja-JP" sz="1400" dirty="0"/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100" b="0" dirty="0"/>
              <a:t>　　</a:t>
            </a:r>
            <a:r>
              <a:rPr lang="en-US" altLang="ja-JP" sz="1100" b="0" dirty="0"/>
              <a:t>1</a:t>
            </a:r>
            <a:r>
              <a:rPr lang="ja-JP" altLang="en-US" sz="1100" b="0" dirty="0"/>
              <a:t>）</a:t>
            </a:r>
            <a:r>
              <a:rPr lang="en-US" altLang="ja-JP" sz="1100" b="0" dirty="0"/>
              <a:t>1</a:t>
            </a:r>
            <a:r>
              <a:rPr lang="ja-JP" altLang="en-US" sz="1100" b="0" dirty="0"/>
              <a:t>の</a:t>
            </a:r>
            <a:r>
              <a:rPr kumimoji="1" lang="ja-JP" altLang="en-US" sz="1100" b="0" dirty="0"/>
              <a:t>図を選択して右クリック＞［図として保存］をクリックします。</a:t>
            </a:r>
            <a:endParaRPr kumimoji="1" lang="en-US" altLang="ja-JP" sz="1100" b="0" dirty="0"/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100" b="0" dirty="0"/>
              <a:t>　　</a:t>
            </a:r>
            <a:r>
              <a:rPr lang="en-US" altLang="ja-JP" sz="1100" b="0" dirty="0"/>
              <a:t>2</a:t>
            </a:r>
            <a:r>
              <a:rPr lang="ja-JP" altLang="en-US" sz="1100" b="0" dirty="0"/>
              <a:t>）</a:t>
            </a:r>
            <a:r>
              <a:rPr lang="en-US" altLang="ja-JP" sz="1100" b="0" dirty="0"/>
              <a:t>[</a:t>
            </a:r>
            <a:r>
              <a:rPr lang="ja-JP" altLang="en-US" sz="1100" b="0" dirty="0"/>
              <a:t>ファイルの種類</a:t>
            </a:r>
            <a:r>
              <a:rPr lang="en-US" altLang="ja-JP" sz="1100" b="0" dirty="0"/>
              <a:t>] </a:t>
            </a:r>
            <a:r>
              <a:rPr lang="ja-JP" altLang="en-US" sz="1100" b="0" dirty="0"/>
              <a:t>ボックスの一覧で、*</a:t>
            </a:r>
            <a:r>
              <a:rPr lang="en-US" altLang="ja-JP" sz="1100" b="0" dirty="0"/>
              <a:t>.jpg </a:t>
            </a:r>
            <a:r>
              <a:rPr lang="ja-JP" altLang="en-US" sz="1100" b="0" dirty="0"/>
              <a:t>または *</a:t>
            </a:r>
            <a:r>
              <a:rPr lang="en-US" altLang="ja-JP" sz="1100" b="0" dirty="0"/>
              <a:t>.</a:t>
            </a:r>
            <a:r>
              <a:rPr lang="en-US" altLang="ja-JP" sz="1100" b="0" dirty="0" err="1"/>
              <a:t>png</a:t>
            </a:r>
            <a:r>
              <a:rPr lang="ja-JP" altLang="en-US" sz="1100" b="0" dirty="0"/>
              <a:t>をクリックします。</a:t>
            </a:r>
            <a:endParaRPr lang="en-US" altLang="ja-JP" sz="1100" b="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100" b="0" dirty="0"/>
              <a:t>　　</a:t>
            </a:r>
            <a:r>
              <a:rPr kumimoji="1" lang="en-US" altLang="ja-JP" sz="1100" b="0" dirty="0"/>
              <a:t>3</a:t>
            </a:r>
            <a:r>
              <a:rPr kumimoji="1" lang="ja-JP" altLang="en-US" sz="1100" b="0" dirty="0"/>
              <a:t>）任意のファイル名、保存場所を選んで保存します。</a:t>
            </a:r>
            <a:endParaRPr kumimoji="1" lang="en-US" altLang="ja-JP" sz="1100" b="0" dirty="0"/>
          </a:p>
          <a:p>
            <a:pPr marL="342900" lvl="0" indent="-342900">
              <a:spcBef>
                <a:spcPts val="1800"/>
              </a:spcBef>
              <a:buFont typeface="+mj-lt"/>
              <a:buAutoNum type="arabicPeriod" startAt="3"/>
            </a:pPr>
            <a:r>
              <a:rPr lang="en-US" altLang="ja-JP" sz="1400" dirty="0">
                <a:solidFill>
                  <a:prstClr val="black"/>
                </a:solidFill>
              </a:rPr>
              <a:t>2</a:t>
            </a:r>
            <a:r>
              <a:rPr lang="ja-JP" altLang="en-US" sz="1400" dirty="0">
                <a:solidFill>
                  <a:prstClr val="black"/>
                </a:solidFill>
              </a:rPr>
              <a:t>で保存したファイルを「</a:t>
            </a:r>
            <a:r>
              <a:rPr lang="en-US" altLang="ja-JP" sz="1400" dirty="0">
                <a:solidFill>
                  <a:prstClr val="black"/>
                </a:solidFill>
              </a:rPr>
              <a:t>StartDash</a:t>
            </a:r>
            <a:r>
              <a:rPr lang="ja-JP" altLang="en-US" sz="1400" dirty="0">
                <a:solidFill>
                  <a:prstClr val="black"/>
                </a:solidFill>
              </a:rPr>
              <a:t>」にアップロードします。</a:t>
            </a:r>
            <a:endParaRPr lang="en-US" altLang="ja-JP" sz="1400" dirty="0">
              <a:solidFill>
                <a:prstClr val="black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100" b="0" dirty="0"/>
              <a:t>　　</a:t>
            </a:r>
            <a:r>
              <a:rPr lang="en-US" altLang="ja-JP" sz="1100" b="0" dirty="0"/>
              <a:t>1</a:t>
            </a:r>
            <a:r>
              <a:rPr lang="ja-JP" altLang="en-US" sz="1100" b="0" dirty="0"/>
              <a:t>）テーマ一覧画面から、</a:t>
            </a:r>
            <a:r>
              <a:rPr lang="en-US" altLang="ja-JP" sz="1100" b="0" dirty="0"/>
              <a:t>[</a:t>
            </a:r>
            <a:r>
              <a:rPr lang="ja-JP" altLang="en-US" sz="1100" b="0" dirty="0"/>
              <a:t>事業の構成を図示する］、</a:t>
            </a:r>
            <a:r>
              <a:rPr lang="en-US" altLang="ja-JP" sz="1100" b="0" dirty="0"/>
              <a:t>[</a:t>
            </a:r>
            <a:r>
              <a:rPr lang="ja-JP" altLang="en-US" sz="1100" b="0" dirty="0"/>
              <a:t>ビジネスモデル図を作成する</a:t>
            </a:r>
            <a:r>
              <a:rPr lang="en-US" altLang="ja-JP" sz="1100" b="0" dirty="0"/>
              <a:t>]</a:t>
            </a:r>
            <a:r>
              <a:rPr lang="ja-JP" altLang="en-US" sz="1100" b="0" dirty="0"/>
              <a:t>の順にクリックします。</a:t>
            </a:r>
            <a:endParaRPr lang="en-US" altLang="ja-JP" sz="1100" b="0" dirty="0"/>
          </a:p>
          <a:p>
            <a:pPr marL="0" indent="0">
              <a:spcBef>
                <a:spcPts val="600"/>
              </a:spcBef>
              <a:buNone/>
            </a:pPr>
            <a:r>
              <a:rPr kumimoji="1" lang="ja-JP" altLang="en-US" sz="1100" b="0" dirty="0"/>
              <a:t>　　</a:t>
            </a:r>
            <a:r>
              <a:rPr kumimoji="1" lang="en-US" altLang="ja-JP" sz="1100" b="0" dirty="0"/>
              <a:t>2</a:t>
            </a:r>
            <a:r>
              <a:rPr kumimoji="1" lang="ja-JP" altLang="en-US" sz="1100" b="0" dirty="0"/>
              <a:t>）トピック画面で、</a:t>
            </a:r>
            <a:r>
              <a:rPr kumimoji="1" lang="en-US" altLang="ja-JP" sz="1100" b="0" dirty="0"/>
              <a:t>[</a:t>
            </a:r>
            <a:r>
              <a:rPr kumimoji="1" lang="ja-JP" altLang="en-US" sz="1100" b="0" dirty="0"/>
              <a:t>実践する</a:t>
            </a:r>
            <a:r>
              <a:rPr kumimoji="1" lang="en-US" altLang="ja-JP" sz="1100" b="0" dirty="0"/>
              <a:t>]</a:t>
            </a:r>
            <a:r>
              <a:rPr kumimoji="1" lang="ja-JP" altLang="en-US" sz="1100" b="0" dirty="0"/>
              <a:t>をクリックします。</a:t>
            </a:r>
            <a:endParaRPr kumimoji="1" lang="en-US" altLang="ja-JP" sz="1100" b="0" dirty="0"/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100" b="0" dirty="0"/>
              <a:t>　　</a:t>
            </a:r>
            <a:r>
              <a:rPr lang="en-US" altLang="ja-JP" sz="1100" b="0" dirty="0"/>
              <a:t>3</a:t>
            </a:r>
            <a:r>
              <a:rPr lang="ja-JP" altLang="en-US" sz="1100" b="0" dirty="0"/>
              <a:t>）［ファイル選択］から、</a:t>
            </a:r>
            <a:r>
              <a:rPr lang="en-US" altLang="ja-JP" sz="1100" b="0" dirty="0"/>
              <a:t>2</a:t>
            </a:r>
            <a:r>
              <a:rPr lang="ja-JP" altLang="en-US" sz="1100" b="0" dirty="0"/>
              <a:t>で保存した画像ファイルを選び</a:t>
            </a:r>
            <a:r>
              <a:rPr lang="en-US" altLang="ja-JP" sz="1100" b="0" dirty="0"/>
              <a:t>[</a:t>
            </a:r>
            <a:r>
              <a:rPr lang="ja-JP" altLang="en-US" sz="1100" b="0" dirty="0"/>
              <a:t>保存</a:t>
            </a:r>
            <a:r>
              <a:rPr lang="en-US" altLang="ja-JP" sz="1100" b="0" dirty="0"/>
              <a:t>]</a:t>
            </a:r>
            <a:r>
              <a:rPr lang="ja-JP" altLang="en-US" sz="1100" b="0" dirty="0"/>
              <a:t>をクリックするとアップロード完了！</a:t>
            </a:r>
          </a:p>
          <a:p>
            <a:pPr marL="0" indent="0">
              <a:spcBef>
                <a:spcPts val="600"/>
              </a:spcBef>
              <a:buNone/>
            </a:pPr>
            <a:endParaRPr kumimoji="1" lang="en-US" altLang="ja-JP" sz="1400" b="0" dirty="0"/>
          </a:p>
          <a:p>
            <a:pPr marL="0" indent="0">
              <a:buNone/>
            </a:pPr>
            <a:endParaRPr kumimoji="1" lang="ja-JP" altLang="en-US" sz="18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39BA2B0-4EB5-4BF4-8913-AE321239D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23" y="2109702"/>
            <a:ext cx="2019765" cy="1022002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A387B0E4-14FB-4E5F-81A7-09D3D0C51283}"/>
              </a:ext>
            </a:extLst>
          </p:cNvPr>
          <p:cNvGrpSpPr/>
          <p:nvPr/>
        </p:nvGrpSpPr>
        <p:grpSpPr>
          <a:xfrm>
            <a:off x="1055223" y="5450966"/>
            <a:ext cx="3004099" cy="1280033"/>
            <a:chOff x="5556799" y="5184712"/>
            <a:chExt cx="3305175" cy="1508187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1F17BA9A-6BB1-4F30-8482-E6D807DF2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56799" y="5184712"/>
              <a:ext cx="3305175" cy="1508187"/>
            </a:xfrm>
            <a:prstGeom prst="rect">
              <a:avLst/>
            </a:prstGeom>
          </p:spPr>
        </p:pic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41EB2EED-4A4A-426D-847D-2A654F8BF7E4}"/>
                </a:ext>
              </a:extLst>
            </p:cNvPr>
            <p:cNvSpPr/>
            <p:nvPr/>
          </p:nvSpPr>
          <p:spPr>
            <a:xfrm>
              <a:off x="6012700" y="6177124"/>
              <a:ext cx="1515421" cy="280799"/>
            </a:xfrm>
            <a:prstGeom prst="roundRect">
              <a:avLst>
                <a:gd name="adj" fmla="val 7838"/>
              </a:avLst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1779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游ゴシック"/>
        <a:cs typeface=""/>
      </a:majorFont>
      <a:minorFont>
        <a:latin typeface="Calibri"/>
        <a:ea typeface="游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62B5A0A4B95F4EB089E801AC8E86B1" ma:contentTypeVersion="9" ma:contentTypeDescription="Create a new document." ma:contentTypeScope="" ma:versionID="71d23754aa470d94dd3569966a2261ca">
  <xsd:schema xmlns:xsd="http://www.w3.org/2001/XMLSchema" xmlns:xs="http://www.w3.org/2001/XMLSchema" xmlns:p="http://schemas.microsoft.com/office/2006/metadata/properties" xmlns:ns2="bec432f0-a24c-4e73-9d49-7b60db09a482" xmlns:ns3="14cc5752-c2f4-41db-b546-f7bb17819ec9" targetNamespace="http://schemas.microsoft.com/office/2006/metadata/properties" ma:root="true" ma:fieldsID="d5697cd02b04c590bea356c4c1a1bbdc" ns2:_="" ns3:_="">
    <xsd:import namespace="bec432f0-a24c-4e73-9d49-7b60db09a482"/>
    <xsd:import namespace="14cc5752-c2f4-41db-b546-f7bb17819e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c432f0-a24c-4e73-9d49-7b60db09a4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3cb9d403-1823-4ec6-b2f2-250b7876d0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cc5752-c2f4-41db-b546-f7bb17819ec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d1bb0011-28d3-4697-9bca-07b141f2cd16}" ma:internalName="TaxCatchAll" ma:showField="CatchAllData" ma:web="14cc5752-c2f4-41db-b546-f7bb17819e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ec432f0-a24c-4e73-9d49-7b60db09a482">
      <Terms xmlns="http://schemas.microsoft.com/office/infopath/2007/PartnerControls"/>
    </lcf76f155ced4ddcb4097134ff3c332f>
    <TaxCatchAll xmlns="14cc5752-c2f4-41db-b546-f7bb17819ec9" xsi:nil="true"/>
  </documentManagement>
</p:properties>
</file>

<file path=customXml/itemProps1.xml><?xml version="1.0" encoding="utf-8"?>
<ds:datastoreItem xmlns:ds="http://schemas.openxmlformats.org/officeDocument/2006/customXml" ds:itemID="{A3F01C53-62B7-43CD-967A-FEEC3AFC0EA6}"/>
</file>

<file path=customXml/itemProps2.xml><?xml version="1.0" encoding="utf-8"?>
<ds:datastoreItem xmlns:ds="http://schemas.openxmlformats.org/officeDocument/2006/customXml" ds:itemID="{EC42C9DA-00A4-494E-8742-06E252A7701A}"/>
</file>

<file path=customXml/itemProps3.xml><?xml version="1.0" encoding="utf-8"?>
<ds:datastoreItem xmlns:ds="http://schemas.openxmlformats.org/officeDocument/2006/customXml" ds:itemID="{D0A5E732-9DF9-46E8-9C54-415C7BDFA04C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553</Words>
  <Application>Microsoft Office PowerPoint</Application>
  <PresentationFormat>画面に合わせる (4:3)</PresentationFormat>
  <Paragraphs>112</Paragraphs>
  <Slides>9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Helvetica Neue</vt:lpstr>
      <vt:lpstr>游ゴシック</vt:lpstr>
      <vt:lpstr>Arial</vt:lpstr>
      <vt:lpstr>Calibri</vt:lpstr>
      <vt:lpstr>Calibri Light</vt:lpstr>
      <vt:lpstr>Office テーマ</vt:lpstr>
      <vt:lpstr> ビジネスモデル図 テンプレート</vt:lpstr>
      <vt:lpstr>このテンプレートについて</vt:lpstr>
      <vt:lpstr>ビジネスモデル図の構成</vt:lpstr>
      <vt:lpstr>例1：月額課金の動画配信サービス</vt:lpstr>
      <vt:lpstr>例2：インターネット検索サイト</vt:lpstr>
      <vt:lpstr>例3：オンラインフリーマーケットサービス</vt:lpstr>
      <vt:lpstr>例4：航空機製造・販売</vt:lpstr>
      <vt:lpstr>例5：転職支援サービス</vt:lpstr>
      <vt:lpstr>「StartDash」に図をアップロードする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2022-07-28T08:52:33Z</dcterms:created>
  <dcterms:modified xsi:type="dcterms:W3CDTF">2022-07-28T08:52:38Z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0x0101006C62B5A0A4B95F4EB089E801AC8E86B1</vt:lpwstr>
  </property>
</Properties>
</file>